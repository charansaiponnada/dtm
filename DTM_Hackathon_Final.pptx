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3" roundtripDataSignature="AMtx7mgHH8pgmPEI3bzDpiTgZ0hJ6f+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" name="Google Shape;60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4" name="Google Shape;74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1" name="Google Shape;81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5" name="Google Shape;95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2" name="Google Shape;102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9" name="Google Shape;109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1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2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"/>
          <p:cNvSpPr txBox="1"/>
          <p:nvPr>
            <p:ph type="ctrTitle"/>
          </p:nvPr>
        </p:nvSpPr>
        <p:spPr>
          <a:xfrm>
            <a:off x="0" y="127526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National AI/ML Hackathon</a:t>
            </a:r>
            <a:endParaRPr b="1" sz="3000"/>
          </a:p>
        </p:txBody>
      </p:sp>
      <p:sp>
        <p:nvSpPr>
          <p:cNvPr id="63" name="Google Shape;63;p1"/>
          <p:cNvSpPr txBox="1"/>
          <p:nvPr/>
        </p:nvSpPr>
        <p:spPr>
          <a:xfrm>
            <a:off x="1203800" y="2215350"/>
            <a:ext cx="7015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Final Round Presentation</a:t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4" name="Google Shape;64;p1" title="IIT TP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76113" y="214667"/>
            <a:ext cx="1274214" cy="805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" title="IITTNiF Logo 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02219" y="214657"/>
            <a:ext cx="2058414" cy="805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" title="NMICPS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60634" y="168194"/>
            <a:ext cx="898012" cy="8980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" title="1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7793" y="270856"/>
            <a:ext cx="2613152" cy="69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" title="nic-logo-nic-logo-1-bilingual-sans-01.jp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790950" y="214672"/>
            <a:ext cx="1677247" cy="8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S69"/>
          <p:cNvSpPr txBox="1"/>
          <p:nvPr/>
        </p:nvSpPr>
        <p:spPr>
          <a:xfrm>
            <a:off x="2148840" y="2788920"/>
            <a:ext cx="5010912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85200C"/>
                </a:solidFill>
                <a:latin typeface="Calibri"/>
              </a:rPr>
              <a:t>Team ID:  DTM-AI-2026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Calibri"/>
              </a:rPr>
              <a:t>Organization: Siddhartha Academy of Higher Education</a:t>
            </a:r>
          </a:p>
          <a:p>
            <a:pPr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B3A5C"/>
                </a:solidFill>
                <a:latin typeface="Calibri"/>
              </a:rPr>
              <a:t>Solution Title:</a:t>
            </a:r>
          </a:p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B94A00"/>
                </a:solidFill>
                <a:latin typeface="Calibri"/>
              </a:rPr>
              <a:t>DTM Drainage AI — Automated LiDAR-to-Drainage Pipeline</a:t>
            </a:r>
          </a:p>
          <a:p>
            <a:pPr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5D6D7E"/>
                </a:solidFill>
                <a:latin typeface="Calibri"/>
              </a:rPr>
              <a:t>Problem Statement: PS-2  |  DTM Creation &amp; Drainage Network</a:t>
            </a:r>
          </a:p>
        </p:txBody>
      </p:sp>
      <p:sp>
        <p:nvSpPr>
          <p:cNvPr id="70" name="Google Shape;70;p1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"/>
          <p:cNvSpPr txBox="1"/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Solution</a:t>
            </a:r>
            <a:endParaRPr b="1" sz="3000"/>
          </a:p>
        </p:txBody>
      </p:sp>
      <p:sp>
        <p:nvSpPr>
          <p:cNvPr id="77" name="Google Shape;77;p2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0" name="S200"/>
          <p:cNvSpPr txBox="1"/>
          <p:nvPr/>
        </p:nvSpPr>
        <p:spPr>
          <a:xfrm>
            <a:off x="228600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One command pipeline: raw LAS/LAZ → 0.5m DTM + waterlogging risk map + costed drainage network</a:t>
            </a:r>
          </a:p>
        </p:txBody>
      </p:sp>
      <p:sp>
        <p:nvSpPr>
          <p:cNvPr id="201" name="S201"/>
          <p:cNvSpPr txBox="1"/>
          <p:nvPr/>
        </p:nvSpPr>
        <p:spPr>
          <a:xfrm>
            <a:off x="228600" y="1143000"/>
            <a:ext cx="3886200" cy="34747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</a:rPr>
              <a:t>What We Built</a:t>
            </a:r>
          </a:p>
        </p:txBody>
      </p:sp>
      <p:sp>
        <p:nvSpPr>
          <p:cNvPr id="202" name="S202"/>
          <p:cNvSpPr txBox="1"/>
          <p:nvPr/>
        </p:nvSpPr>
        <p:spPr>
          <a:xfrm>
            <a:off x="228600" y="1490472"/>
            <a:ext cx="3886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 marL="182880" indent="-182880">
              <a:spcBef>
                <a:spcPts val="2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End-to-end 6-stage automated pipeline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Single command: dtm-pipeline --input file.las --evaluate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Batch mode processes all SVAMITVA villages in one run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Live Streamlit dashboard — deployed on Streamlit Cloud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OGC-compliant output: Cloud-Optimized GeoTIFF + GeoPackage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Open-source, fully documented, reproducible pipeline</a:t>
            </a:r>
          </a:p>
        </p:txBody>
      </p:sp>
      <p:sp>
        <p:nvSpPr>
          <p:cNvPr id="203" name="S203"/>
          <p:cNvSpPr txBox="1"/>
          <p:nvPr/>
        </p:nvSpPr>
        <p:spPr>
          <a:xfrm>
            <a:off x="4343400" y="1143000"/>
            <a:ext cx="3886200" cy="347472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</a:rPr>
              <a:t>Key Differentiators</a:t>
            </a:r>
          </a:p>
        </p:txBody>
      </p:sp>
      <p:sp>
        <p:nvSpPr>
          <p:cNvPr id="204" name="S204"/>
          <p:cNvSpPr txBox="1"/>
          <p:nvPr/>
        </p:nvSpPr>
        <p:spPr>
          <a:xfrm>
            <a:off x="4343400" y="1490472"/>
            <a:ext cx="388620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7777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 marL="182880" indent="-182880">
              <a:spcBef>
                <a:spcPts val="2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Vectorised IDW cKDTree (k=16): 40× speedup, ~10s per 4M-cell grid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XGBoost waterlogging model: ROC-AUC 0.999 across all villages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Cross-village transfer AUC 0.989–1.000 (Gujarat ↔ Punjab)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Honest ASPRS validation: leave-out CV vs withheld LiDAR returns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Minimum Spanning Tree routing + Manning’s trapezoidal sizing</a:t>
            </a:r>
          </a:p>
          <a:p>
            <a:pPr algn="l" marL="182880" indent="-182880">
              <a:spcBef>
                <a:spcPts val="100"/>
              </a:spcBef>
              <a:spcAft>
                <a:spcPts val="0"/>
              </a:spcAft>
              <a:buChar char="•"/>
            </a:pPr>
            <a:r>
              <a:rPr lang="en-US" sz="1100">
                <a:solidFill>
                  <a:srgbClr val="1A1A2E"/>
                </a:solidFill>
                <a:latin typeface="Calibri"/>
              </a:rPr>
              <a:t>Zero-bias DTM: mean error near 0m (no systematic vertical drift)</a:t>
            </a:r>
          </a:p>
        </p:txBody>
      </p:sp>
      <p:sp>
        <p:nvSpPr>
          <p:cNvPr id="205" name="S205"/>
          <p:cNvSpPr txBox="1"/>
          <p:nvPr/>
        </p:nvSpPr>
        <p:spPr>
          <a:xfrm>
            <a:off x="228600" y="4114800"/>
            <a:ext cx="8686800" cy="347472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4 Villages Processed  │  2,851 Drainage Channels  │  135 km Total Length  │  ₹327 Lakhs Budget (CPWD DSR 2023-24)  │  Processing: 28–57 sec/village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"/>
          <p:cNvSpPr txBox="1"/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 / Workflow</a:t>
            </a:r>
            <a:endParaRPr b="1" sz="3000"/>
          </a:p>
        </p:txBody>
      </p:sp>
      <p:sp>
        <p:nvSpPr>
          <p:cNvPr id="84" name="Google Shape;84;p3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S300"/>
          <p:cNvSpPr txBox="1"/>
          <p:nvPr/>
        </p:nvSpPr>
        <p:spPr>
          <a:xfrm>
            <a:off x="201168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6 automated stages: LAS/LAZ → classify → DTM → hydrology → waterlogging → costed drainage</a:t>
            </a:r>
          </a:p>
        </p:txBody>
      </p:sp>
      <p:sp>
        <p:nvSpPr>
          <p:cNvPr id="311" name="S311"/>
          <p:cNvSpPr txBox="1"/>
          <p:nvPr/>
        </p:nvSpPr>
        <p:spPr>
          <a:xfrm>
            <a:off x="201168" y="1170432"/>
            <a:ext cx="3520440" cy="25603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1  Inspect</a:t>
            </a:r>
          </a:p>
        </p:txBody>
      </p:sp>
      <p:sp>
        <p:nvSpPr>
          <p:cNvPr id="312" name="S312"/>
          <p:cNvSpPr txBox="1"/>
          <p:nvPr/>
        </p:nvSpPr>
        <p:spPr>
          <a:xfrm>
            <a:off x="201168" y="1426464"/>
            <a:ext cx="3520440" cy="292608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LAS/LAZ header scan · CRS detection · auto-tiling for 50M+ pt files</a:t>
            </a:r>
          </a:p>
        </p:txBody>
      </p:sp>
      <p:sp>
        <p:nvSpPr>
          <p:cNvPr id="315" name="S315"/>
          <p:cNvSpPr txBox="1"/>
          <p:nvPr/>
        </p:nvSpPr>
        <p:spPr>
          <a:xfrm>
            <a:off x="201168" y="1746504"/>
            <a:ext cx="3520440" cy="256032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2  Ground Class.</a:t>
            </a:r>
          </a:p>
        </p:txBody>
      </p:sp>
      <p:sp>
        <p:nvSpPr>
          <p:cNvPr id="316" name="S316"/>
          <p:cNvSpPr txBox="1"/>
          <p:nvPr/>
        </p:nvSpPr>
        <p:spPr>
          <a:xfrm>
            <a:off x="201168" y="2002536"/>
            <a:ext cx="3520440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17777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SMRF filter + RF refinement on 12 geometric features · CSF fallback</a:t>
            </a:r>
          </a:p>
        </p:txBody>
      </p:sp>
      <p:sp>
        <p:nvSpPr>
          <p:cNvPr id="319" name="S319"/>
          <p:cNvSpPr txBox="1"/>
          <p:nvPr/>
        </p:nvSpPr>
        <p:spPr>
          <a:xfrm>
            <a:off x="201168" y="2322576"/>
            <a:ext cx="3520440" cy="256032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3  DTM Gen.</a:t>
            </a:r>
          </a:p>
        </p:txBody>
      </p:sp>
      <p:sp>
        <p:nvSpPr>
          <p:cNvPr id="320" name="S320"/>
          <p:cNvSpPr txBox="1"/>
          <p:nvPr/>
        </p:nvSpPr>
        <p:spPr>
          <a:xfrm>
            <a:off x="201168" y="2578608"/>
            <a:ext cx="3520440" cy="292608"/>
          </a:xfrm>
          <a:prstGeom prst="rect">
            <a:avLst/>
          </a:prstGeom>
          <a:solidFill>
            <a:srgbClr val="EAF0F6"/>
          </a:solidFill>
          <a:ln w="19050">
            <a:solidFill>
              <a:srgbClr val="85200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IDW cKDTree k=16 · 0.5 m Cloud-Optimized GeoTIFF · 8 terrain derivatives</a:t>
            </a:r>
          </a:p>
        </p:txBody>
      </p:sp>
      <p:sp>
        <p:nvSpPr>
          <p:cNvPr id="323" name="S323"/>
          <p:cNvSpPr txBox="1"/>
          <p:nvPr/>
        </p:nvSpPr>
        <p:spPr>
          <a:xfrm>
            <a:off x="201168" y="2898648"/>
            <a:ext cx="3520440" cy="25603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4  Hydrology</a:t>
            </a:r>
          </a:p>
        </p:txBody>
      </p:sp>
      <p:sp>
        <p:nvSpPr>
          <p:cNvPr id="324" name="S324"/>
          <p:cNvSpPr txBox="1"/>
          <p:nvPr/>
        </p:nvSpPr>
        <p:spPr>
          <a:xfrm>
            <a:off x="201168" y="3154680"/>
            <a:ext cx="3520440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Depression fill (Wang 2006) · D8 flow · TWI = ln(SCA / tanβ)</a:t>
            </a:r>
          </a:p>
        </p:txBody>
      </p:sp>
      <p:sp>
        <p:nvSpPr>
          <p:cNvPr id="327" name="S327"/>
          <p:cNvSpPr txBox="1"/>
          <p:nvPr/>
        </p:nvSpPr>
        <p:spPr>
          <a:xfrm>
            <a:off x="201168" y="3474720"/>
            <a:ext cx="3520440" cy="256032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5  Waterlogging</a:t>
            </a:r>
          </a:p>
        </p:txBody>
      </p:sp>
      <p:sp>
        <p:nvSpPr>
          <p:cNvPr id="328" name="S328"/>
          <p:cNvSpPr txBox="1"/>
          <p:nvPr/>
        </p:nvSpPr>
        <p:spPr>
          <a:xfrm>
            <a:off x="201168" y="3730752"/>
            <a:ext cx="3520440" cy="292608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XGBoost AUC 0.999 · physics-derived labels · 5-fold leave-out CV</a:t>
            </a:r>
          </a:p>
        </p:txBody>
      </p:sp>
      <p:sp>
        <p:nvSpPr>
          <p:cNvPr id="331" name="S331"/>
          <p:cNvSpPr txBox="1"/>
          <p:nvPr/>
        </p:nvSpPr>
        <p:spPr>
          <a:xfrm>
            <a:off x="201168" y="4050792"/>
            <a:ext cx="3520440" cy="256032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6  Drainage</a:t>
            </a:r>
          </a:p>
        </p:txBody>
      </p:sp>
      <p:sp>
        <p:nvSpPr>
          <p:cNvPr id="332" name="S332"/>
          <p:cNvSpPr txBox="1"/>
          <p:nvPr/>
        </p:nvSpPr>
        <p:spPr>
          <a:xfrm>
            <a:off x="201168" y="4306824"/>
            <a:ext cx="3520440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B94A00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1A1A2E"/>
                </a:solidFill>
                <a:latin typeface="Calibri"/>
              </a:rPr>
              <a:t>MST routing · Manning’s trapezoid sizing → GPKG + INR cost per channel</a:t>
            </a:r>
          </a:p>
        </p:txBody>
      </p:sp>
      <p:sp>
        <p:nvSpPr>
          <p:cNvPr id="391" name="S391"/>
          <p:cNvSpPr txBox="1"/>
          <p:nvPr/>
        </p:nvSpPr>
        <p:spPr>
          <a:xfrm>
            <a:off x="3858768" y="3858768"/>
            <a:ext cx="4828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>
                <a:solidFill>
                  <a:srgbClr val="1B3A5C"/>
                </a:solidFill>
                <a:latin typeface="Calibri"/>
              </a:rPr>
              <a:t>Actual outputs — DEVDI village (76M pts · ASPRS RMSE 0.176 m)</a:t>
            </a:r>
          </a:p>
        </p:txBody>
      </p:sp>
      <p:pic>
        <p:nvPicPr>
          <p:cNvPr id="392" name="Picture 391" descr="terrain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8768" y="1143000"/>
            <a:ext cx="4828032" cy="2660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 txBox="1"/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&amp; Technical Approach</a:t>
            </a:r>
            <a:endParaRPr b="1" sz="3000"/>
          </a:p>
        </p:txBody>
      </p:sp>
      <p:sp>
        <p:nvSpPr>
          <p:cNvPr id="91" name="Google Shape;91;p4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0" name="S400"/>
          <p:cNvSpPr txBox="1"/>
          <p:nvPr/>
        </p:nvSpPr>
        <p:spPr>
          <a:xfrm>
            <a:off x="228600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Stages 1–6: from raw point cloud to engineered drainage design</a:t>
            </a:r>
          </a:p>
        </p:txBody>
      </p:sp>
      <p:sp>
        <p:nvSpPr>
          <p:cNvPr id="401" name="S401"/>
          <p:cNvSpPr txBox="1"/>
          <p:nvPr/>
        </p:nvSpPr>
        <p:spPr>
          <a:xfrm>
            <a:off x="228600" y="1143000"/>
            <a:ext cx="2679192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Ground Classification</a:t>
            </a:r>
          </a:p>
        </p:txBody>
      </p:sp>
      <p:sp>
        <p:nvSpPr>
          <p:cNvPr id="402" name="S402"/>
          <p:cNvSpPr txBox="1"/>
          <p:nvPr/>
        </p:nvSpPr>
        <p:spPr>
          <a:xfrm>
            <a:off x="228600" y="1481328"/>
            <a:ext cx="267919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 marL="164592" indent="-164592">
              <a:spcBef>
                <a:spcPts val="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SMRF morphological filter via PDAL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Slope=0.15, window=18m, max_window=33m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CSF cloth-simulation fallback (flat terrain)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Random Forest refinement on 12 geometric features:</a:t>
            </a:r>
          </a:p>
          <a:p>
            <a:pPr algn="l" marL="320040" indent="0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5D6D7E"/>
                </a:solidFill>
                <a:latin typeface="Calibri"/>
              </a:rPr>
              <a:t>  Z-score, planarity, linearity, eigen-ratio, height above ground...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PointNet deep learning alternative (PyTorch)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Result: classified_ground.las</a:t>
            </a:r>
          </a:p>
        </p:txBody>
      </p:sp>
      <p:sp>
        <p:nvSpPr>
          <p:cNvPr id="411" name="S411"/>
          <p:cNvSpPr txBox="1"/>
          <p:nvPr/>
        </p:nvSpPr>
        <p:spPr>
          <a:xfrm>
            <a:off x="3044952" y="1143000"/>
            <a:ext cx="2679192" cy="338328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DTM Generation</a:t>
            </a:r>
          </a:p>
        </p:txBody>
      </p:sp>
      <p:sp>
        <p:nvSpPr>
          <p:cNvPr id="412" name="S412"/>
          <p:cNvSpPr txBox="1"/>
          <p:nvPr/>
        </p:nvSpPr>
        <p:spPr>
          <a:xfrm>
            <a:off x="3044952" y="1481328"/>
            <a:ext cx="267919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7777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 marL="164592" indent="-164592">
              <a:spcBef>
                <a:spcPts val="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IDW interpolation with vectorised cKDTree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k=16 neighbors, power=2, batch-parallel workers=-1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Resolution: 0.5m Cloud-Optimized GeoTIFF (COG)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40× speedup over naive Python loops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Gaussian smoothing (σ=0.8) to reduce LiDAR noise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8 terrain derivatives computed:</a:t>
            </a:r>
          </a:p>
          <a:p>
            <a:pPr algn="l" marL="320040" indent="0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870">
                <a:solidFill>
                  <a:srgbClr val="5D6D7E"/>
                </a:solidFill>
                <a:latin typeface="Calibri"/>
              </a:rPr>
              <a:t>  Slope · Aspect · TPI · Curvature · Roughness · Hillshade · TWI</a:t>
            </a:r>
          </a:p>
        </p:txBody>
      </p:sp>
      <p:sp>
        <p:nvSpPr>
          <p:cNvPr id="421" name="S421"/>
          <p:cNvSpPr txBox="1"/>
          <p:nvPr/>
        </p:nvSpPr>
        <p:spPr>
          <a:xfrm>
            <a:off x="5861304" y="1143000"/>
            <a:ext cx="2679192" cy="338328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Hydrology + Drainage</a:t>
            </a:r>
          </a:p>
        </p:txBody>
      </p:sp>
      <p:sp>
        <p:nvSpPr>
          <p:cNvPr id="422" name="S422"/>
          <p:cNvSpPr txBox="1"/>
          <p:nvPr/>
        </p:nvSpPr>
        <p:spPr>
          <a:xfrm>
            <a:off x="5861304" y="1481328"/>
            <a:ext cx="267919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B94A00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 marL="164592" indent="-164592">
              <a:spcBef>
                <a:spcPts val="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Depression fill: Wang &amp; Liu 2006 (pysheds)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D8 steepest-descent flow direction + accumulation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TWI = ln(Specific Catchment Area / tanβ)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Stream extraction via DFS topology O(N)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XGBoost on 10 terrain features (ROC-AUC 0.999)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MST channel routing (Kruskal’s algorithm, networkx)</a:t>
            </a:r>
          </a:p>
          <a:p>
            <a:pPr algn="l" marL="164592" indent="-164592">
              <a:spcBef>
                <a:spcPts val="120"/>
              </a:spcBef>
              <a:spcAft>
                <a:spcPts val="0"/>
              </a:spcAft>
              <a:buChar char="•"/>
            </a:pPr>
            <a:r>
              <a:rPr lang="en-US" sz="950">
                <a:solidFill>
                  <a:srgbClr val="1A1A2E"/>
                </a:solidFill>
                <a:latin typeface="Calibri"/>
              </a:rPr>
              <a:t>Manning’s trapezoidal channel sizing + cost → GPKG</a:t>
            </a:r>
          </a:p>
        </p:txBody>
      </p:sp>
      <p:sp>
        <p:nvSpPr>
          <p:cNvPr id="430" name="S430"/>
          <p:cNvSpPr txBox="1"/>
          <p:nvPr/>
        </p:nvSpPr>
        <p:spPr>
          <a:xfrm>
            <a:off x="228600" y="3611880"/>
            <a:ext cx="8686800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</a:rPr>
              <a:t>Design Parameters (10-Year Return Period)</a:t>
            </a:r>
          </a:p>
        </p:txBody>
      </p:sp>
      <p:sp>
        <p:nvSpPr>
          <p:cNvPr id="431" name="S431"/>
          <p:cNvSpPr txBox="1"/>
          <p:nvPr/>
        </p:nvSpPr>
        <p:spPr>
          <a:xfrm>
            <a:off x="228600" y="3950208"/>
            <a:ext cx="5166360" cy="777240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Char char="▸"/>
            </a:pPr>
            <a:r>
              <a:rPr lang="en-US" sz="1000">
                <a:solidFill>
                  <a:srgbClr val="1A1A2E"/>
                </a:solidFill>
                <a:latin typeface="Calibri"/>
              </a:rPr>
              <a:t>Manning’s n = 0.025  │  Side slope 1.5H:1V  │  Rainfall i = 50 mm/hr  │  C = 0.65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Char char="▸"/>
            </a:pPr>
            <a:r>
              <a:rPr lang="en-US" sz="1000">
                <a:solidFill>
                  <a:srgbClr val="1A1A2E"/>
                </a:solidFill>
                <a:latin typeface="Calibri"/>
              </a:rPr>
              <a:t>Velocity: 0.30 m/s (min) ≤ V ≤ 2.00 m/s (max)  │  Cost model: CPWD DSR 2023-24 depth-banded (avg ₹231–267/m incl. 12% GST)</a:t>
            </a:r>
          </a:p>
        </p:txBody>
      </p:sp>
      <p:sp>
        <p:nvSpPr>
          <p:cNvPr id="432" name="S432"/>
          <p:cNvSpPr txBox="1"/>
          <p:nvPr/>
        </p:nvSpPr>
        <p:spPr>
          <a:xfrm>
            <a:off x="5577840" y="3611880"/>
            <a:ext cx="3337560" cy="338328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17777"/>
                </a:solidFill>
                <a:latin typeface="Calibri"/>
              </a:rPr>
              <a:t>XGBoost Feature Importance</a:t>
            </a:r>
          </a:p>
        </p:txBody>
      </p:sp>
      <p:pic>
        <p:nvPicPr>
          <p:cNvPr id="433" name="Picture 432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147" y="3474720"/>
            <a:ext cx="2022945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/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 &amp; Demonstration</a:t>
            </a:r>
            <a:endParaRPr b="1" sz="3000"/>
          </a:p>
        </p:txBody>
      </p:sp>
      <p:sp>
        <p:nvSpPr>
          <p:cNvPr id="98" name="Google Shape;98;p5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0" name="S500"/>
          <p:cNvSpPr txBox="1"/>
          <p:nvPr/>
        </p:nvSpPr>
        <p:spPr>
          <a:xfrm>
            <a:off x="228600" y="84124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Validated on 4 SVAMITVA villages (Gujarat &amp; Punjab) — ASPRS leave-out CV standard</a:t>
            </a:r>
          </a:p>
        </p:txBody>
      </p:sp>
      <p:sp>
        <p:nvSpPr>
          <p:cNvPr id="501" name="S501"/>
          <p:cNvSpPr txBox="1"/>
          <p:nvPr/>
        </p:nvSpPr>
        <p:spPr>
          <a:xfrm>
            <a:off x="228600" y="1143000"/>
            <a:ext cx="8686800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</a:rPr>
              <a:t>DTM Vertical Accuracy  (leave-out CV vs withheld LiDAR ground returns)</a:t>
            </a:r>
          </a:p>
        </p:txBody>
      </p:sp>
      <p:sp>
        <p:nvSpPr>
          <p:cNvPr id="502" name="S502"/>
          <p:cNvSpPr txBox="1"/>
          <p:nvPr/>
        </p:nvSpPr>
        <p:spPr>
          <a:xfrm>
            <a:off x="228600" y="1481328"/>
            <a:ext cx="8686800" cy="274320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>
                <a:solidFill>
                  <a:srgbClr val="FFFFFF"/>
                </a:solidFill>
                <a:latin typeface="Calibri"/>
              </a:rPr>
              <a:t>Village         State      Points    Ground%   RMSE (m)  MAE (m)   LE90 (m)  Time</a:t>
            </a:r>
          </a:p>
        </p:txBody>
      </p:sp>
      <p:sp>
        <p:nvSpPr>
          <p:cNvPr id="503" name="S503"/>
          <p:cNvSpPr txBox="1"/>
          <p:nvPr/>
        </p:nvSpPr>
        <p:spPr>
          <a:xfrm>
            <a:off x="228600" y="1755648"/>
            <a:ext cx="8686800" cy="24688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Devdi              Gujarat  76.1M     65.2%     0.176     0.091     0.235     57.1s</a:t>
            </a:r>
          </a:p>
        </p:txBody>
      </p:sp>
      <p:sp>
        <p:nvSpPr>
          <p:cNvPr id="504" name="S504"/>
          <p:cNvSpPr txBox="1"/>
          <p:nvPr/>
        </p:nvSpPr>
        <p:spPr>
          <a:xfrm>
            <a:off x="228600" y="2002536"/>
            <a:ext cx="868680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Khapreta           Gujarat  193.1M    76.8%     0.146     0.081     0.191     54.3s</a:t>
            </a:r>
          </a:p>
        </p:txBody>
      </p:sp>
      <p:sp>
        <p:nvSpPr>
          <p:cNvPr id="505" name="S505"/>
          <p:cNvSpPr txBox="1"/>
          <p:nvPr/>
        </p:nvSpPr>
        <p:spPr>
          <a:xfrm>
            <a:off x="228600" y="2249424"/>
            <a:ext cx="8686800" cy="24688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Dhal Hoshiarpur    Punjab   35.0M     82.2%     0.097     0.055     0.129     32.2s</a:t>
            </a:r>
          </a:p>
        </p:txBody>
      </p:sp>
      <p:sp>
        <p:nvSpPr>
          <p:cNvPr id="506" name="S506"/>
          <p:cNvSpPr txBox="1"/>
          <p:nvPr/>
        </p:nvSpPr>
        <p:spPr>
          <a:xfrm>
            <a:off x="228600" y="2496312"/>
            <a:ext cx="868680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A1A2E"/>
                </a:solidFill>
                <a:latin typeface="Calibri"/>
              </a:rPr>
              <a:t>Chakhirasingh      Punjab   9.8M      56.6%     0.254     0.158     0.385     28.2s</a:t>
            </a:r>
          </a:p>
        </p:txBody>
      </p:sp>
      <p:sp>
        <p:nvSpPr>
          <p:cNvPr id="510" name="S510"/>
          <p:cNvSpPr txBox="1"/>
          <p:nvPr/>
        </p:nvSpPr>
        <p:spPr>
          <a:xfrm>
            <a:off x="228600" y="2807208"/>
            <a:ext cx="5257800" cy="320040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</a:rPr>
              <a:t>Waterlogging Risk Model  +  Cross-Village Transfer (XGBoost)</a:t>
            </a:r>
          </a:p>
        </p:txBody>
      </p:sp>
      <p:sp>
        <p:nvSpPr>
          <p:cNvPr id="511" name="S511"/>
          <p:cNvSpPr txBox="1"/>
          <p:nvPr/>
        </p:nvSpPr>
        <p:spPr>
          <a:xfrm>
            <a:off x="228600" y="3127248"/>
            <a:ext cx="5257800" cy="23774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0" b="1">
                <a:solidFill>
                  <a:srgbClr val="FFFFFF"/>
                </a:solidFill>
                <a:latin typeface="Calibri"/>
              </a:rPr>
              <a:t>Village         ROC-AUC  PR-AUC   F1       Prec     Recall</a:t>
            </a:r>
          </a:p>
        </p:txBody>
      </p:sp>
      <p:sp>
        <p:nvSpPr>
          <p:cNvPr id="512" name="S512"/>
          <p:cNvSpPr txBox="1"/>
          <p:nvPr/>
        </p:nvSpPr>
        <p:spPr>
          <a:xfrm>
            <a:off x="228600" y="3364992"/>
            <a:ext cx="5257800" cy="2011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0">
                <a:solidFill>
                  <a:srgbClr val="1A1A2E"/>
                </a:solidFill>
                <a:latin typeface="Calibri"/>
              </a:rPr>
              <a:t>Devdi              0.9993   0.9812   0.9057   0.8464   0.9738</a:t>
            </a:r>
          </a:p>
        </p:txBody>
      </p:sp>
      <p:sp>
        <p:nvSpPr>
          <p:cNvPr id="513" name="S513"/>
          <p:cNvSpPr txBox="1"/>
          <p:nvPr/>
        </p:nvSpPr>
        <p:spPr>
          <a:xfrm>
            <a:off x="228600" y="3566160"/>
            <a:ext cx="52578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0">
                <a:solidFill>
                  <a:srgbClr val="1A1A2E"/>
                </a:solidFill>
                <a:latin typeface="Calibri"/>
              </a:rPr>
              <a:t>Khapreta           0.9999   0.9967   0.9700   0.9664   0.9735</a:t>
            </a:r>
          </a:p>
        </p:txBody>
      </p:sp>
      <p:sp>
        <p:nvSpPr>
          <p:cNvPr id="514" name="S514"/>
          <p:cNvSpPr txBox="1"/>
          <p:nvPr/>
        </p:nvSpPr>
        <p:spPr>
          <a:xfrm>
            <a:off x="228600" y="3767328"/>
            <a:ext cx="5257800" cy="2011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0">
                <a:solidFill>
                  <a:srgbClr val="1A1A2E"/>
                </a:solidFill>
                <a:latin typeface="Calibri"/>
              </a:rPr>
              <a:t>Dhal Hoshiarpur    0.9994   0.9831   0.9024   0.8468   0.9658</a:t>
            </a:r>
          </a:p>
        </p:txBody>
      </p:sp>
      <p:sp>
        <p:nvSpPr>
          <p:cNvPr id="515" name="S515"/>
          <p:cNvSpPr txBox="1"/>
          <p:nvPr/>
        </p:nvSpPr>
        <p:spPr>
          <a:xfrm>
            <a:off x="228600" y="3968496"/>
            <a:ext cx="52578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20">
                <a:solidFill>
                  <a:srgbClr val="1A1A2E"/>
                </a:solidFill>
                <a:latin typeface="Calibri"/>
              </a:rPr>
              <a:t>Chakhirasingh      0.9989   0.9640   0.8399   0.7486   0.9567</a:t>
            </a:r>
          </a:p>
        </p:txBody>
      </p:sp>
      <p:sp>
        <p:nvSpPr>
          <p:cNvPr id="520" name="S520"/>
          <p:cNvSpPr txBox="1"/>
          <p:nvPr/>
        </p:nvSpPr>
        <p:spPr>
          <a:xfrm>
            <a:off x="5669280" y="2807208"/>
            <a:ext cx="3246120" cy="320040"/>
          </a:xfrm>
          <a:prstGeom prst="rect">
            <a:avLst/>
          </a:prstGeom>
          <a:solidFill>
            <a:srgbClr val="B94A00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</a:rPr>
              <a:t>Cross-Village Transfer AUC</a:t>
            </a:r>
          </a:p>
        </p:txBody>
      </p:sp>
      <p:sp>
        <p:nvSpPr>
          <p:cNvPr id="521" name="S521"/>
          <p:cNvSpPr txBox="1"/>
          <p:nvPr/>
        </p:nvSpPr>
        <p:spPr>
          <a:xfrm>
            <a:off x="5669280" y="3127248"/>
            <a:ext cx="3246120" cy="1069848"/>
          </a:xfrm>
          <a:prstGeom prst="rect">
            <a:avLst/>
          </a:prstGeom>
          <a:solidFill>
            <a:srgbClr val="FFFFFF"/>
          </a:solidFill>
          <a:ln w="19050">
            <a:solidFill>
              <a:srgbClr val="B94A00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>
                <a:solidFill>
                  <a:srgbClr val="1A1A2E"/>
                </a:solidFill>
                <a:latin typeface="Calibri"/>
              </a:rPr>
              <a:t>Trained on A, tested on B:</a:t>
            </a:r>
          </a:p>
          <a:p>
            <a:pPr>
              <a:spcBef>
                <a:spcPts val="120"/>
              </a:spcBef>
              <a:buNone/>
            </a:pPr>
            <a:endParaRPr lang="en-US" sz="600"/>
          </a:p>
          <a:p>
            <a:pPr algn="ctr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117777"/>
                </a:solidFill>
                <a:latin typeface="Calibri"/>
              </a:rPr>
              <a:t>Min AUC:  0.989</a:t>
            </a:r>
          </a:p>
          <a:p>
            <a:pPr algn="ctr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1B3A5C"/>
                </a:solidFill>
                <a:latin typeface="Calibri"/>
              </a:rPr>
              <a:t>Max AUC:  1.000</a:t>
            </a:r>
          </a:p>
          <a:p>
            <a:pPr>
              <a:spcBef>
                <a:spcPts val="120"/>
              </a:spcBef>
              <a:buNone/>
            </a:pPr>
            <a:endParaRPr lang="en-US" sz="600"/>
          </a:p>
          <a:p>
            <a:pPr algn="ctr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50" b="1">
                <a:solidFill>
                  <a:srgbClr val="B94A00"/>
                </a:solidFill>
                <a:latin typeface="Calibri"/>
              </a:rPr>
              <a:t>Gujarat ↔ Punjab  without retraining</a:t>
            </a:r>
          </a:p>
          <a:p>
            <a:pPr>
              <a:spcBef>
                <a:spcPts val="80"/>
              </a:spcBef>
              <a:buNone/>
            </a:pPr>
            <a:endParaRPr lang="en-US" sz="600"/>
          </a:p>
          <a:p>
            <a:pPr algn="ctr">
              <a:spcBef>
                <a:spcPts val="60"/>
              </a:spcBef>
              <a:spcAft>
                <a:spcPts val="0"/>
              </a:spcAft>
              <a:buNone/>
            </a:pPr>
            <a:r>
              <a:rPr lang="en-US" sz="950" b="1">
                <a:solidFill>
                  <a:srgbClr val="117777"/>
                </a:solidFill>
                <a:latin typeface="Calibri"/>
              </a:rPr>
              <a:t>TWI HIGH/LOW = 2.1–2.6×</a:t>
            </a:r>
          </a:p>
        </p:txBody>
      </p:sp>
      <p:sp>
        <p:nvSpPr>
          <p:cNvPr id="530" name="S530"/>
          <p:cNvSpPr txBox="1"/>
          <p:nvPr/>
        </p:nvSpPr>
        <p:spPr>
          <a:xfrm>
            <a:off x="228600" y="4206240"/>
            <a:ext cx="8686800" cy="256032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TOTAL: 2,851 channels  │  135 km drainage  │  ₹327 Lakhs (CPWD DSR 2023-24)  │  0 capacity exceedances  │  100% stream coverage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 txBox="1"/>
          <p:nvPr>
            <p:ph type="ctrTitle"/>
          </p:nvPr>
        </p:nvSpPr>
        <p:spPr>
          <a:xfrm>
            <a:off x="0" y="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Innovation &amp; Key Learnings</a:t>
            </a:r>
            <a:endParaRPr b="1" sz="3000"/>
          </a:p>
        </p:txBody>
      </p:sp>
      <p:sp>
        <p:nvSpPr>
          <p:cNvPr id="105" name="Google Shape;105;p6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01" name="S601"/>
          <p:cNvSpPr txBox="1"/>
          <p:nvPr/>
        </p:nvSpPr>
        <p:spPr>
          <a:xfrm>
            <a:off x="228600" y="1143000"/>
            <a:ext cx="4160520" cy="33832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</a:rPr>
              <a:t>Innovations</a:t>
            </a:r>
          </a:p>
        </p:txBody>
      </p:sp>
      <p:sp>
        <p:nvSpPr>
          <p:cNvPr id="602" name="S602"/>
          <p:cNvSpPr txBox="1"/>
          <p:nvPr/>
        </p:nvSpPr>
        <p:spPr>
          <a:xfrm>
            <a:off x="228600" y="1481328"/>
            <a:ext cx="416052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B3A5C"/>
                </a:solidFill>
                <a:latin typeface="Calibri"/>
              </a:rPr>
              <a:t>1.  Vectorised IDW Interpolation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cKDTree batch-query + NumPy weight computation: 40× speedup, 4M-cell grid in ~10s on CPU.</a:t>
            </a:r>
          </a:p>
        </p:txBody>
      </p:sp>
      <p:sp>
        <p:nvSpPr>
          <p:cNvPr id="603" name="S603"/>
          <p:cNvSpPr txBox="1"/>
          <p:nvPr/>
        </p:nvSpPr>
        <p:spPr>
          <a:xfrm>
            <a:off x="228600" y="2139696"/>
            <a:ext cx="4160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B3A5C"/>
                </a:solidFill>
                <a:latin typeface="Calibri"/>
              </a:rPr>
              <a:t>2.  Physically-Grounded Waterlogging Labels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No flood records exist — gold-standard labels derived from terrain physics (TWI, depression, curvature).</a:t>
            </a:r>
          </a:p>
        </p:txBody>
      </p:sp>
      <p:sp>
        <p:nvSpPr>
          <p:cNvPr id="604" name="S604"/>
          <p:cNvSpPr txBox="1"/>
          <p:nvPr/>
        </p:nvSpPr>
        <p:spPr>
          <a:xfrm>
            <a:off x="228600" y="2798064"/>
            <a:ext cx="416052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B3A5C"/>
                </a:solidFill>
                <a:latin typeface="Calibri"/>
              </a:rPr>
              <a:t>3.  Cross-Village Transfer Learning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XGBoost trained on one village → AUC 0.989–1.000 on unseen villages across state boundaries.</a:t>
            </a:r>
          </a:p>
        </p:txBody>
      </p:sp>
      <p:sp>
        <p:nvSpPr>
          <p:cNvPr id="605" name="S605"/>
          <p:cNvSpPr txBox="1"/>
          <p:nvPr/>
        </p:nvSpPr>
        <p:spPr>
          <a:xfrm>
            <a:off x="228600" y="3456432"/>
            <a:ext cx="4160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B3A5C"/>
                </a:solidFill>
                <a:latin typeface="Calibri"/>
              </a:rPr>
              <a:t>4.  Honest ASPRS DTM Validation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Leave-out CV vs withheld LiDAR ground returns — RMSE/LE90 against real measured elevations.</a:t>
            </a:r>
          </a:p>
        </p:txBody>
      </p:sp>
      <p:sp>
        <p:nvSpPr>
          <p:cNvPr id="615" name="S615"/>
          <p:cNvSpPr txBox="1"/>
          <p:nvPr/>
        </p:nvSpPr>
        <p:spPr>
          <a:xfrm>
            <a:off x="4572000" y="1143000"/>
            <a:ext cx="4069080" cy="338328"/>
          </a:xfrm>
          <a:prstGeom prst="rect">
            <a:avLst/>
          </a:prstGeom>
          <a:solidFill>
            <a:srgbClr val="117777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</a:rPr>
              <a:t>Key Learnings</a:t>
            </a:r>
          </a:p>
        </p:txBody>
      </p:sp>
      <p:sp>
        <p:nvSpPr>
          <p:cNvPr id="616" name="S616"/>
          <p:cNvSpPr txBox="1"/>
          <p:nvPr/>
        </p:nvSpPr>
        <p:spPr>
          <a:xfrm>
            <a:off x="4572000" y="1481328"/>
            <a:ext cx="406908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17777"/>
                </a:solidFill>
                <a:latin typeface="Calibri"/>
              </a:rPr>
              <a:t>1.  Validation must be domain-correct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CV on the same data is NOT validation. Hold out real LiDAR returns and measure against them.</a:t>
            </a:r>
          </a:p>
        </p:txBody>
      </p:sp>
      <p:sp>
        <p:nvSpPr>
          <p:cNvPr id="617" name="S617"/>
          <p:cNvSpPr txBox="1"/>
          <p:nvPr/>
        </p:nvSpPr>
        <p:spPr>
          <a:xfrm>
            <a:off x="4572000" y="2139696"/>
            <a:ext cx="4069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17777"/>
                </a:solidFill>
                <a:latin typeface="Calibri"/>
              </a:rPr>
              <a:t>2.  Terrain features transfer, thresholds don’t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XGBoost learns universal physics of water-on-terrain — not village-specific memorised thresholds.</a:t>
            </a:r>
          </a:p>
        </p:txBody>
      </p:sp>
      <p:sp>
        <p:nvSpPr>
          <p:cNvPr id="618" name="S618"/>
          <p:cNvSpPr txBox="1"/>
          <p:nvPr/>
        </p:nvSpPr>
        <p:spPr>
          <a:xfrm>
            <a:off x="4572000" y="2798064"/>
            <a:ext cx="4069080" cy="658368"/>
          </a:xfrm>
          <a:prstGeom prst="rect">
            <a:avLst/>
          </a:prstGeom>
          <a:solidFill>
            <a:srgbClr val="EAF0F6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17777"/>
                </a:solidFill>
                <a:latin typeface="Calibri"/>
              </a:rPr>
              <a:t>3.  IDW &gt;&gt; Kriging at scale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Vectorised IDW gives RMSE 0.10–0.25m at 40× less compute than Kriging for 50M+ point clouds.</a:t>
            </a:r>
          </a:p>
        </p:txBody>
      </p:sp>
      <p:sp>
        <p:nvSpPr>
          <p:cNvPr id="619" name="S619"/>
          <p:cNvSpPr txBox="1"/>
          <p:nvPr/>
        </p:nvSpPr>
        <p:spPr>
          <a:xfrm>
            <a:off x="4572000" y="3456432"/>
            <a:ext cx="4069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117777"/>
                </a:solidFill>
                <a:latin typeface="Calibri"/>
              </a:rPr>
              <a:t>4.  Catchment area drives drainage design</a:t>
            </a:r>
          </a:p>
          <a:p>
            <a:pPr algn="l" marL="228600" indent="0"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980">
                <a:solidFill>
                  <a:srgbClr val="1A1A2E"/>
                </a:solidFill>
                <a:latin typeface="Calibri"/>
              </a:rPr>
              <a:t>Real flow-accumulation catchments (not length proxies) produce hydraulically consistent sizing.</a:t>
            </a:r>
          </a:p>
        </p:txBody>
      </p:sp>
      <p:sp>
        <p:nvSpPr>
          <p:cNvPr id="630" name="S630"/>
          <p:cNvSpPr txBox="1"/>
          <p:nvPr/>
        </p:nvSpPr>
        <p:spPr>
          <a:xfrm>
            <a:off x="228600" y="4142232"/>
            <a:ext cx="8686800" cy="47548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FFFFFF"/>
                </a:solidFill>
                <a:latin typeface="Calibri"/>
              </a:rPr>
              <a:t>Next Steps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FFFFFF"/>
                </a:solidFill>
                <a:latin typeface="Calibri"/>
              </a:rPr>
              <a:t>(1) Cross-validate with NRSC National Waterlogging Atlas flood records  (2) Live dashboard deployed on Streamlit Cloud ✓  (3) Scale to all 10 SVAMITVA villages in one batch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"/>
          <p:cNvSpPr txBox="1"/>
          <p:nvPr>
            <p:ph type="ctrTitle"/>
          </p:nvPr>
        </p:nvSpPr>
        <p:spPr>
          <a:xfrm>
            <a:off x="0" y="1879612"/>
            <a:ext cx="9144000" cy="8052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100"/>
              <a:buFont typeface="Times New Roman"/>
              <a:buNone/>
            </a:pPr>
            <a:r>
              <a:rPr b="1" lang="en-GB" sz="3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b="1" sz="3000"/>
          </a:p>
        </p:txBody>
      </p:sp>
      <p:sp>
        <p:nvSpPr>
          <p:cNvPr id="112" name="Google Shape;112;p7"/>
          <p:cNvSpPr txBox="1"/>
          <p:nvPr>
            <p:ph type="ctrTitle"/>
          </p:nvPr>
        </p:nvSpPr>
        <p:spPr>
          <a:xfrm>
            <a:off x="0" y="4754700"/>
            <a:ext cx="9144000" cy="415500"/>
          </a:xfrm>
          <a:prstGeom prst="rect">
            <a:avLst/>
          </a:prstGeom>
          <a:solidFill>
            <a:srgbClr val="85200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90"/>
              <a:buFont typeface="Times New Roman"/>
              <a:buNone/>
            </a:pPr>
            <a:r>
              <a:rPr b="1" lang="en-GB" sz="12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Powered by: Geospatial Intelligence and Applications Laboratory, IITTNiF</a:t>
            </a:r>
            <a:endParaRPr b="1" sz="12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0" name="S790"/>
          <p:cNvSpPr txBox="1"/>
          <p:nvPr/>
        </p:nvSpPr>
        <p:spPr>
          <a:xfrm>
            <a:off x="22860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85200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85200C"/>
                </a:solidFill>
                <a:latin typeface="Calibri"/>
              </a:rPr>
              <a:t>40×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DTM Speedup</a:t>
            </a:r>
          </a:p>
        </p:txBody>
      </p:sp>
      <p:sp>
        <p:nvSpPr>
          <p:cNvPr id="791" name="S791"/>
          <p:cNvSpPr txBox="1"/>
          <p:nvPr/>
        </p:nvSpPr>
        <p:spPr>
          <a:xfrm>
            <a:off x="233172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17777"/>
                </a:solidFill>
                <a:latin typeface="Calibri"/>
              </a:rPr>
              <a:t>AUC 0.999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Model Accuracy</a:t>
            </a:r>
          </a:p>
        </p:txBody>
      </p:sp>
      <p:sp>
        <p:nvSpPr>
          <p:cNvPr id="792" name="S792"/>
          <p:cNvSpPr txBox="1"/>
          <p:nvPr/>
        </p:nvSpPr>
        <p:spPr>
          <a:xfrm>
            <a:off x="443484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B3A5C"/>
                </a:solidFill>
                <a:latin typeface="Calibri"/>
              </a:rPr>
              <a:t>2,851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Channels Designed</a:t>
            </a:r>
          </a:p>
        </p:txBody>
      </p:sp>
      <p:sp>
        <p:nvSpPr>
          <p:cNvPr id="793" name="S793"/>
          <p:cNvSpPr txBox="1"/>
          <p:nvPr/>
        </p:nvSpPr>
        <p:spPr>
          <a:xfrm>
            <a:off x="6537960" y="804672"/>
            <a:ext cx="1965960" cy="1005840"/>
          </a:xfrm>
          <a:prstGeom prst="rect">
            <a:avLst/>
          </a:prstGeom>
          <a:solidFill>
            <a:srgbClr val="EAF0F6"/>
          </a:solidFill>
          <a:ln w="19050">
            <a:solidFill>
              <a:srgbClr val="B94A00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B94A00"/>
                </a:solidFill>
                <a:latin typeface="Calibri"/>
              </a:rPr>
              <a:t>₹327 L</a:t>
            </a:r>
          </a:p>
          <a:p>
            <a:pPr algn="ctr"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CPWD-Costed Budget</a:t>
            </a:r>
          </a:p>
        </p:txBody>
      </p:sp>
      <p:sp>
        <p:nvSpPr>
          <p:cNvPr id="700" name="S700"/>
          <p:cNvSpPr txBox="1"/>
          <p:nvPr/>
        </p:nvSpPr>
        <p:spPr>
          <a:xfrm>
            <a:off x="228600" y="2944368"/>
            <a:ext cx="8686800" cy="310896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Ctr="0" anchor="ctr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/>
              </a:rPr>
              <a:t>DTM Drainage AI  |  Problem Statement PS-2  |  Automated LiDAR-to-Drainage Pipeline</a:t>
            </a:r>
          </a:p>
        </p:txBody>
      </p:sp>
      <p:sp>
        <p:nvSpPr>
          <p:cNvPr id="701" name="S701"/>
          <p:cNvSpPr txBox="1"/>
          <p:nvPr/>
        </p:nvSpPr>
        <p:spPr>
          <a:xfrm>
            <a:off x="228600" y="3310128"/>
            <a:ext cx="2606040" cy="658368"/>
          </a:xfrm>
          <a:prstGeom prst="rect">
            <a:avLst/>
          </a:prstGeom>
          <a:solidFill>
            <a:srgbClr val="EAF0F6"/>
          </a:solidFill>
          <a:ln w="19050">
            <a:solidFill>
              <a:srgbClr val="85200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85200C"/>
                </a:solidFill>
                <a:latin typeface="Calibri"/>
              </a:rPr>
              <a:t>RMSE 0.097–0.254 m</a:t>
            </a:r>
          </a:p>
          <a:p>
            <a:pPr algn="ctr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DTM Vertical Accuracy</a:t>
            </a:r>
          </a:p>
        </p:txBody>
      </p:sp>
      <p:sp>
        <p:nvSpPr>
          <p:cNvPr id="702" name="S702"/>
          <p:cNvSpPr txBox="1"/>
          <p:nvPr/>
        </p:nvSpPr>
        <p:spPr>
          <a:xfrm>
            <a:off x="3063240" y="3310128"/>
            <a:ext cx="2606040" cy="658368"/>
          </a:xfrm>
          <a:prstGeom prst="rect">
            <a:avLst/>
          </a:prstGeom>
          <a:solidFill>
            <a:srgbClr val="EAF0F6"/>
          </a:solidFill>
          <a:ln w="19050">
            <a:solidFill>
              <a:srgbClr val="117777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117777"/>
                </a:solidFill>
                <a:latin typeface="Calibri"/>
              </a:rPr>
              <a:t>AUC 0.999</a:t>
            </a:r>
          </a:p>
          <a:p>
            <a:pPr algn="ctr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Waterlogging Risk Model</a:t>
            </a:r>
          </a:p>
        </p:txBody>
      </p:sp>
      <p:sp>
        <p:nvSpPr>
          <p:cNvPr id="703" name="S703"/>
          <p:cNvSpPr txBox="1"/>
          <p:nvPr/>
        </p:nvSpPr>
        <p:spPr>
          <a:xfrm>
            <a:off x="5897880" y="3310128"/>
            <a:ext cx="2606040" cy="658368"/>
          </a:xfrm>
          <a:prstGeom prst="rect">
            <a:avLst/>
          </a:prstGeom>
          <a:solidFill>
            <a:srgbClr val="EAF0F6"/>
          </a:solidFill>
          <a:ln w="19050">
            <a:solidFill>
              <a:srgbClr val="1B3A5C"/>
            </a:solidFill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1B3A5C"/>
                </a:solidFill>
                <a:latin typeface="Calibri"/>
              </a:rPr>
              <a:t>2,851 Channels</a:t>
            </a:r>
          </a:p>
          <a:p>
            <a:pPr algn="ctr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D6D7E"/>
                </a:solidFill>
                <a:latin typeface="Calibri"/>
              </a:rPr>
              <a:t>135 km  |  ₹327 Lakhs</a:t>
            </a:r>
          </a:p>
        </p:txBody>
      </p:sp>
      <p:sp>
        <p:nvSpPr>
          <p:cNvPr id="705" name="S705"/>
          <p:cNvSpPr txBox="1"/>
          <p:nvPr/>
        </p:nvSpPr>
        <p:spPr>
          <a:xfrm>
            <a:off x="457200" y="4023360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rIns="91425" tIns="91425"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Open Source:  github.com/charansaiponnada/DTM</a:t>
            </a:r>
          </a:p>
          <a:p>
            <a:pPr algn="ctr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D6D7E"/>
                </a:solidFill>
                <a:latin typeface="Calibri"/>
              </a:rPr>
              <a:t>Contact:  Charan Sai Ponnada  |  Siddhartha Academy of Higher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