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HH8pgmPEI3bzDpiTgZ0hJ6f+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36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1CC309F-0032-A02D-B61B-82BF5B3D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>
            <a:extLst>
              <a:ext uri="{FF2B5EF4-FFF2-40B4-BE49-F238E27FC236}">
                <a16:creationId xmlns:a16="http://schemas.microsoft.com/office/drawing/2014/main" id="{E121A435-B78C-2226-4505-C26937CC6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2:notes">
            <a:extLst>
              <a:ext uri="{FF2B5EF4-FFF2-40B4-BE49-F238E27FC236}">
                <a16:creationId xmlns:a16="http://schemas.microsoft.com/office/drawing/2014/main" id="{B0AECDB7-277F-AE3A-8461-28C982D04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2:notes">
            <a:extLst>
              <a:ext uri="{FF2B5EF4-FFF2-40B4-BE49-F238E27FC236}">
                <a16:creationId xmlns:a16="http://schemas.microsoft.com/office/drawing/2014/main" id="{BCAE30C7-386E-1C51-194D-CF55D3CBD2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6029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ctrTitle"/>
          </p:nvPr>
        </p:nvSpPr>
        <p:spPr>
          <a:xfrm>
            <a:off x="0" y="127526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lang="en-GB" sz="3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AI/ML Hackathon</a:t>
            </a:r>
            <a:endParaRPr sz="3000" b="1"/>
          </a:p>
        </p:txBody>
      </p:sp>
      <p:sp>
        <p:nvSpPr>
          <p:cNvPr id="63" name="Google Shape;63;p1"/>
          <p:cNvSpPr txBox="1"/>
          <p:nvPr/>
        </p:nvSpPr>
        <p:spPr>
          <a:xfrm>
            <a:off x="1203800" y="2215350"/>
            <a:ext cx="7015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Round Presentation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" title="IIT TP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6113" y="214667"/>
            <a:ext cx="1274214" cy="805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 title="IITTNiF Logo 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2219" y="214657"/>
            <a:ext cx="2058414" cy="805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 title="NMICP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0634" y="168194"/>
            <a:ext cx="898012" cy="89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 title="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7793" y="270856"/>
            <a:ext cx="2613152" cy="6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" title="nic-logo-nic-logo-1-bilingual-sans-01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90950" y="214672"/>
            <a:ext cx="1677247" cy="8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S69"/>
          <p:cNvSpPr txBox="1"/>
          <p:nvPr/>
        </p:nvSpPr>
        <p:spPr>
          <a:xfrm>
            <a:off x="2148840" y="2788920"/>
            <a:ext cx="5010912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85200C"/>
                </a:solidFill>
                <a:latin typeface="Calibri"/>
              </a:rPr>
              <a:t>Team ID:  DTM-AI-2026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</a:rPr>
              <a:t>Organization: Siddhartha Academy of Higher Education</a:t>
            </a: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3A5C"/>
                </a:solidFill>
                <a:latin typeface="Calibri"/>
              </a:rPr>
              <a:t>Solution Title: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B94A00"/>
                </a:solidFill>
                <a:latin typeface="Calibri"/>
              </a:rPr>
              <a:t>DTM Drainage AI — Automated LiDAR-to-Drainage Pipeline</a:t>
            </a: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D6D7E"/>
                </a:solidFill>
                <a:latin typeface="Calibri"/>
              </a:rPr>
              <a:t>Problem Statement: PS-2  |  DTM Creation &amp; Drainage Network</a:t>
            </a:r>
          </a:p>
        </p:txBody>
      </p:sp>
      <p:sp>
        <p:nvSpPr>
          <p:cNvPr id="70" name="Google Shape;70;p1"/>
          <p:cNvSpPr txBox="1">
            <a:spLocks noGrp="1"/>
          </p:cNvSpPr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lang="en-GB"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92D45A8A-73C7-43C9-9A80-4FC95724F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>
            <a:extLst>
              <a:ext uri="{FF2B5EF4-FFF2-40B4-BE49-F238E27FC236}">
                <a16:creationId xmlns:a16="http://schemas.microsoft.com/office/drawing/2014/main" id="{9B102893-C29C-7850-68C5-F9806E67F5A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lang="en-GB" sz="3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sz="3000" b="1"/>
          </a:p>
        </p:txBody>
      </p:sp>
      <p:sp>
        <p:nvSpPr>
          <p:cNvPr id="77" name="Google Shape;77;p2">
            <a:extLst>
              <a:ext uri="{FF2B5EF4-FFF2-40B4-BE49-F238E27FC236}">
                <a16:creationId xmlns:a16="http://schemas.microsoft.com/office/drawing/2014/main" id="{ABF26BE4-83E7-C7C8-B8F8-D642CA1EC5C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lang="en-GB"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S200">
            <a:extLst>
              <a:ext uri="{FF2B5EF4-FFF2-40B4-BE49-F238E27FC236}">
                <a16:creationId xmlns:a16="http://schemas.microsoft.com/office/drawing/2014/main" id="{7FBF73E6-B253-6331-4C51-C1770A672F01}"/>
              </a:ext>
            </a:extLst>
          </p:cNvPr>
          <p:cNvSpPr txBox="1"/>
          <p:nvPr/>
        </p:nvSpPr>
        <p:spPr>
          <a:xfrm>
            <a:off x="228600" y="84124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D6D7E"/>
                </a:solidFill>
                <a:latin typeface="Calibri"/>
              </a:rPr>
              <a:t>One command pipeline: raw LAS/LAZ → 0.5m DTM + waterlogging risk map + costed drainage network</a:t>
            </a:r>
          </a:p>
        </p:txBody>
      </p:sp>
      <p:sp>
        <p:nvSpPr>
          <p:cNvPr id="201" name="S201">
            <a:extLst>
              <a:ext uri="{FF2B5EF4-FFF2-40B4-BE49-F238E27FC236}">
                <a16:creationId xmlns:a16="http://schemas.microsoft.com/office/drawing/2014/main" id="{6C8C2750-FE78-2184-09B0-C3BD7A6D8829}"/>
              </a:ext>
            </a:extLst>
          </p:cNvPr>
          <p:cNvSpPr txBox="1"/>
          <p:nvPr/>
        </p:nvSpPr>
        <p:spPr>
          <a:xfrm>
            <a:off x="228600" y="1143000"/>
            <a:ext cx="38862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202" name="S202">
            <a:extLst>
              <a:ext uri="{FF2B5EF4-FFF2-40B4-BE49-F238E27FC236}">
                <a16:creationId xmlns:a16="http://schemas.microsoft.com/office/drawing/2014/main" id="{8A866936-9CC7-54B6-4E33-DD22B2F25B2A}"/>
              </a:ext>
            </a:extLst>
          </p:cNvPr>
          <p:cNvSpPr txBox="1"/>
          <p:nvPr/>
        </p:nvSpPr>
        <p:spPr>
          <a:xfrm>
            <a:off x="228600" y="1490472"/>
            <a:ext cx="3886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182880" indent="-182880" algn="l"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End-to-end 6-stage automated pipeline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Single command: dtm-pipeline --input file.las --evaluate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Batch mode processes all SVAMITVA villages in one run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Live Streamlit dashboard — deployed on Streamlit Cloud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OGC-compliant output: Cloud-Optimized GeoTIFF + GeoPackage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Open-source, fully documented, reproducible pipeline</a:t>
            </a:r>
          </a:p>
        </p:txBody>
      </p:sp>
      <p:sp>
        <p:nvSpPr>
          <p:cNvPr id="203" name="S203">
            <a:extLst>
              <a:ext uri="{FF2B5EF4-FFF2-40B4-BE49-F238E27FC236}">
                <a16:creationId xmlns:a16="http://schemas.microsoft.com/office/drawing/2014/main" id="{40CA22A9-B4DE-4259-9144-4F2AD47ABCC4}"/>
              </a:ext>
            </a:extLst>
          </p:cNvPr>
          <p:cNvSpPr txBox="1"/>
          <p:nvPr/>
        </p:nvSpPr>
        <p:spPr>
          <a:xfrm>
            <a:off x="4343400" y="1143000"/>
            <a:ext cx="3886200" cy="347472"/>
          </a:xfrm>
          <a:prstGeom prst="rect">
            <a:avLst/>
          </a:prstGeom>
          <a:solidFill>
            <a:srgbClr val="117777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Key Differentiators</a:t>
            </a:r>
          </a:p>
        </p:txBody>
      </p:sp>
      <p:sp>
        <p:nvSpPr>
          <p:cNvPr id="204" name="S204">
            <a:extLst>
              <a:ext uri="{FF2B5EF4-FFF2-40B4-BE49-F238E27FC236}">
                <a16:creationId xmlns:a16="http://schemas.microsoft.com/office/drawing/2014/main" id="{1FBB62E8-AAF1-69FD-A565-87BD7A7F0C22}"/>
              </a:ext>
            </a:extLst>
          </p:cNvPr>
          <p:cNvSpPr txBox="1"/>
          <p:nvPr/>
        </p:nvSpPr>
        <p:spPr>
          <a:xfrm>
            <a:off x="4343400" y="1490472"/>
            <a:ext cx="3886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777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182880" indent="-182880" algn="l"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Vectorised IDW cKDTree (k=16): 40× speedup, ~10s per 4M-cell grid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XGBoost waterlogging model: ROC-AUC 0.999 across all villages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Cross-village transfer AUC 0.989–1.000 (Gujarat ↔ Punjab)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Honest ASPRS validation: leave-out CV vs withheld LiDAR returns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Minimum Spanning Tree routing + Manning’s trapezoidal sizing</a:t>
            </a:r>
          </a:p>
          <a:p>
            <a:pPr marL="182880" indent="-182880" algn="l"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</a:rPr>
              <a:t>Zero-bias DTM: mean error near 0m (no systematic vertical drift)</a:t>
            </a:r>
          </a:p>
        </p:txBody>
      </p:sp>
      <p:sp>
        <p:nvSpPr>
          <p:cNvPr id="205" name="S205">
            <a:extLst>
              <a:ext uri="{FF2B5EF4-FFF2-40B4-BE49-F238E27FC236}">
                <a16:creationId xmlns:a16="http://schemas.microsoft.com/office/drawing/2014/main" id="{C82E79D1-FF8C-1059-EA55-084E3EB71E03}"/>
              </a:ext>
            </a:extLst>
          </p:cNvPr>
          <p:cNvSpPr txBox="1"/>
          <p:nvPr/>
        </p:nvSpPr>
        <p:spPr>
          <a:xfrm>
            <a:off x="228600" y="4114800"/>
            <a:ext cx="8686800" cy="347472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4 Villages Processed  │  2,851 Drainage Channels  │  135 km Total Length  │  Processing: 28–57 sec/village</a:t>
            </a:r>
          </a:p>
        </p:txBody>
      </p:sp>
    </p:spTree>
    <p:extLst>
      <p:ext uri="{BB962C8B-B14F-4D97-AF65-F5344CB8AC3E}">
        <p14:creationId xmlns:p14="http://schemas.microsoft.com/office/powerpoint/2010/main" val="402126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lang="en-GB" sz="3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/ Workflow</a:t>
            </a:r>
            <a:endParaRPr sz="3000" b="1"/>
          </a:p>
        </p:txBody>
      </p:sp>
      <p:sp>
        <p:nvSpPr>
          <p:cNvPr id="84" name="Google Shape;84;p3"/>
          <p:cNvSpPr txBox="1">
            <a:spLocks noGrp="1"/>
          </p:cNvSpPr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lang="en-GB"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S300"/>
          <p:cNvSpPr txBox="1"/>
          <p:nvPr/>
        </p:nvSpPr>
        <p:spPr>
          <a:xfrm>
            <a:off x="201168" y="84124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D6D7E"/>
                </a:solidFill>
                <a:latin typeface="Calibri"/>
              </a:rPr>
              <a:t>6 automated stages: LAS/LAZ → classify → DTM → hydrology → waterlogging → costed drainage</a:t>
            </a:r>
          </a:p>
        </p:txBody>
      </p:sp>
      <p:sp>
        <p:nvSpPr>
          <p:cNvPr id="311" name="S311"/>
          <p:cNvSpPr txBox="1"/>
          <p:nvPr/>
        </p:nvSpPr>
        <p:spPr>
          <a:xfrm>
            <a:off x="201168" y="1170432"/>
            <a:ext cx="3520440" cy="2560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</a:rPr>
              <a:t>1  Inspect</a:t>
            </a:r>
          </a:p>
        </p:txBody>
      </p:sp>
      <p:sp>
        <p:nvSpPr>
          <p:cNvPr id="312" name="S312"/>
          <p:cNvSpPr txBox="1"/>
          <p:nvPr/>
        </p:nvSpPr>
        <p:spPr>
          <a:xfrm>
            <a:off x="201168" y="1426464"/>
            <a:ext cx="3520440" cy="292608"/>
          </a:xfrm>
          <a:prstGeom prst="rect">
            <a:avLst/>
          </a:prstGeom>
          <a:solidFill>
            <a:srgbClr val="EAF0F6"/>
          </a:solidFill>
          <a:ln w="19050">
            <a:solidFill>
              <a:srgbClr val="1B3A5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>
                <a:solidFill>
                  <a:srgbClr val="1A1A2E"/>
                </a:solidFill>
                <a:latin typeface="Calibri"/>
              </a:rPr>
              <a:t>LAS/LAZ header scan · CRS detection · auto-tiling for 50M+ pt files</a:t>
            </a:r>
          </a:p>
        </p:txBody>
      </p:sp>
      <p:sp>
        <p:nvSpPr>
          <p:cNvPr id="315" name="S315"/>
          <p:cNvSpPr txBox="1"/>
          <p:nvPr/>
        </p:nvSpPr>
        <p:spPr>
          <a:xfrm>
            <a:off x="201168" y="1746504"/>
            <a:ext cx="3520440" cy="256032"/>
          </a:xfrm>
          <a:prstGeom prst="rect">
            <a:avLst/>
          </a:prstGeom>
          <a:solidFill>
            <a:srgbClr val="117777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</a:rPr>
              <a:t>2  Ground Class.</a:t>
            </a:r>
          </a:p>
        </p:txBody>
      </p:sp>
      <p:sp>
        <p:nvSpPr>
          <p:cNvPr id="316" name="S316"/>
          <p:cNvSpPr txBox="1"/>
          <p:nvPr/>
        </p:nvSpPr>
        <p:spPr>
          <a:xfrm>
            <a:off x="201168" y="2002536"/>
            <a:ext cx="352044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17777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>
                <a:solidFill>
                  <a:srgbClr val="1A1A2E"/>
                </a:solidFill>
                <a:latin typeface="Calibri"/>
              </a:rPr>
              <a:t>SMRF filter + RF refinement on 12 geometric features · CSF fallback</a:t>
            </a:r>
          </a:p>
        </p:txBody>
      </p:sp>
      <p:sp>
        <p:nvSpPr>
          <p:cNvPr id="319" name="S319"/>
          <p:cNvSpPr txBox="1"/>
          <p:nvPr/>
        </p:nvSpPr>
        <p:spPr>
          <a:xfrm>
            <a:off x="201168" y="2322576"/>
            <a:ext cx="3520440" cy="256032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</a:rPr>
              <a:t>3  DTM Gen.</a:t>
            </a:r>
          </a:p>
        </p:txBody>
      </p:sp>
      <p:sp>
        <p:nvSpPr>
          <p:cNvPr id="320" name="S320"/>
          <p:cNvSpPr txBox="1"/>
          <p:nvPr/>
        </p:nvSpPr>
        <p:spPr>
          <a:xfrm>
            <a:off x="201168" y="2578608"/>
            <a:ext cx="3520440" cy="292608"/>
          </a:xfrm>
          <a:prstGeom prst="rect">
            <a:avLst/>
          </a:prstGeom>
          <a:solidFill>
            <a:srgbClr val="EAF0F6"/>
          </a:solidFill>
          <a:ln w="19050">
            <a:solidFill>
              <a:srgbClr val="85200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>
                <a:solidFill>
                  <a:srgbClr val="1A1A2E"/>
                </a:solidFill>
                <a:latin typeface="Calibri"/>
              </a:rPr>
              <a:t>IDW cKDTree k=16 · 0.5 m Cloud-Optimized GeoTIFF · 8 terrain derivatives</a:t>
            </a:r>
          </a:p>
        </p:txBody>
      </p:sp>
      <p:sp>
        <p:nvSpPr>
          <p:cNvPr id="323" name="S323"/>
          <p:cNvSpPr txBox="1"/>
          <p:nvPr/>
        </p:nvSpPr>
        <p:spPr>
          <a:xfrm>
            <a:off x="201168" y="2898648"/>
            <a:ext cx="3520440" cy="2560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</a:rPr>
              <a:t>4  Hydrology</a:t>
            </a:r>
          </a:p>
        </p:txBody>
      </p:sp>
      <p:sp>
        <p:nvSpPr>
          <p:cNvPr id="324" name="S324"/>
          <p:cNvSpPr txBox="1"/>
          <p:nvPr/>
        </p:nvSpPr>
        <p:spPr>
          <a:xfrm>
            <a:off x="201168" y="3154680"/>
            <a:ext cx="352044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>
                <a:solidFill>
                  <a:srgbClr val="1A1A2E"/>
                </a:solidFill>
                <a:latin typeface="Calibri"/>
              </a:rPr>
              <a:t>Depression fill (Wang 2006) · D8 flow · TWI = ln(SCA / tanβ)</a:t>
            </a:r>
          </a:p>
        </p:txBody>
      </p:sp>
      <p:sp>
        <p:nvSpPr>
          <p:cNvPr id="327" name="S327"/>
          <p:cNvSpPr txBox="1"/>
          <p:nvPr/>
        </p:nvSpPr>
        <p:spPr>
          <a:xfrm>
            <a:off x="201168" y="3474720"/>
            <a:ext cx="3520440" cy="256032"/>
          </a:xfrm>
          <a:prstGeom prst="rect">
            <a:avLst/>
          </a:prstGeom>
          <a:solidFill>
            <a:srgbClr val="117777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</a:rPr>
              <a:t>5  Waterlogging</a:t>
            </a:r>
          </a:p>
        </p:txBody>
      </p:sp>
      <p:sp>
        <p:nvSpPr>
          <p:cNvPr id="328" name="S328"/>
          <p:cNvSpPr txBox="1"/>
          <p:nvPr/>
        </p:nvSpPr>
        <p:spPr>
          <a:xfrm>
            <a:off x="201168" y="3730752"/>
            <a:ext cx="3520440" cy="292608"/>
          </a:xfrm>
          <a:prstGeom prst="rect">
            <a:avLst/>
          </a:prstGeom>
          <a:solidFill>
            <a:srgbClr val="EAF0F6"/>
          </a:solidFill>
          <a:ln w="19050">
            <a:solidFill>
              <a:srgbClr val="117777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>
                <a:solidFill>
                  <a:srgbClr val="1A1A2E"/>
                </a:solidFill>
                <a:latin typeface="Calibri"/>
              </a:rPr>
              <a:t>XGBoost AUC 0.999 · physics-derived labels · 5-fold leave-out CV</a:t>
            </a:r>
          </a:p>
        </p:txBody>
      </p:sp>
      <p:sp>
        <p:nvSpPr>
          <p:cNvPr id="331" name="S331"/>
          <p:cNvSpPr txBox="1"/>
          <p:nvPr/>
        </p:nvSpPr>
        <p:spPr>
          <a:xfrm>
            <a:off x="201168" y="4050792"/>
            <a:ext cx="3520440" cy="256032"/>
          </a:xfrm>
          <a:prstGeom prst="rect">
            <a:avLst/>
          </a:prstGeom>
          <a:solidFill>
            <a:srgbClr val="B94A00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</a:rPr>
              <a:t>6  Drainage</a:t>
            </a:r>
          </a:p>
        </p:txBody>
      </p:sp>
      <p:sp>
        <p:nvSpPr>
          <p:cNvPr id="332" name="S332"/>
          <p:cNvSpPr txBox="1"/>
          <p:nvPr/>
        </p:nvSpPr>
        <p:spPr>
          <a:xfrm>
            <a:off x="201168" y="4306824"/>
            <a:ext cx="352044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B94A00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>
                <a:solidFill>
                  <a:srgbClr val="1A1A2E"/>
                </a:solidFill>
                <a:latin typeface="Calibri"/>
              </a:rPr>
              <a:t>MST routing · Manning’s trapezoid sizing → GPKG + INR cost per channel</a:t>
            </a:r>
          </a:p>
        </p:txBody>
      </p:sp>
      <p:sp>
        <p:nvSpPr>
          <p:cNvPr id="391" name="S391"/>
          <p:cNvSpPr txBox="1"/>
          <p:nvPr/>
        </p:nvSpPr>
        <p:spPr>
          <a:xfrm>
            <a:off x="3858768" y="3858768"/>
            <a:ext cx="482803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1B3A5C"/>
                </a:solidFill>
                <a:latin typeface="Calibri"/>
              </a:rPr>
              <a:t>Actual outputs — DEVDI village (76M pts · ASPRS RMSE 0.176 m)</a:t>
            </a:r>
          </a:p>
        </p:txBody>
      </p:sp>
      <p:pic>
        <p:nvPicPr>
          <p:cNvPr id="392" name="Picture 391" descr="terrai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1143000"/>
            <a:ext cx="4828032" cy="2660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>
            <a:spLocks noGrp="1"/>
          </p:cNvSpPr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lang="en-GB" sz="3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&amp; Technical Approach</a:t>
            </a:r>
            <a:endParaRPr sz="3000" b="1"/>
          </a:p>
        </p:txBody>
      </p:sp>
      <p:sp>
        <p:nvSpPr>
          <p:cNvPr id="91" name="Google Shape;91;p4"/>
          <p:cNvSpPr txBox="1">
            <a:spLocks noGrp="1"/>
          </p:cNvSpPr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lang="en-GB"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S400"/>
          <p:cNvSpPr txBox="1"/>
          <p:nvPr/>
        </p:nvSpPr>
        <p:spPr>
          <a:xfrm>
            <a:off x="228600" y="84124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D6D7E"/>
                </a:solidFill>
                <a:latin typeface="Calibri"/>
              </a:rPr>
              <a:t>Stages 1–6: from raw point cloud to engineered drainage design</a:t>
            </a:r>
          </a:p>
        </p:txBody>
      </p:sp>
      <p:sp>
        <p:nvSpPr>
          <p:cNvPr id="401" name="S401"/>
          <p:cNvSpPr txBox="1"/>
          <p:nvPr/>
        </p:nvSpPr>
        <p:spPr>
          <a:xfrm>
            <a:off x="228600" y="1143000"/>
            <a:ext cx="2679192" cy="3383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Ground Classification</a:t>
            </a:r>
          </a:p>
        </p:txBody>
      </p:sp>
      <p:sp>
        <p:nvSpPr>
          <p:cNvPr id="402" name="S402"/>
          <p:cNvSpPr txBox="1"/>
          <p:nvPr/>
        </p:nvSpPr>
        <p:spPr>
          <a:xfrm>
            <a:off x="228600" y="1481328"/>
            <a:ext cx="2679192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164592" indent="-164592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SMRF morphological filter via PDAL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Slope=0.15, window=18m, max_window=33m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CSF cloth-simulation fallback (flat terrain)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Random Forest refinement on 12 geometric features:</a:t>
            </a:r>
          </a:p>
          <a:p>
            <a:pPr marL="320040" indent="0" algn="l"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870">
                <a:solidFill>
                  <a:srgbClr val="5D6D7E"/>
                </a:solidFill>
                <a:latin typeface="Calibri"/>
              </a:rPr>
              <a:t>  Z-score, planarity, linearity, eigen-ratio, height above ground...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PointNet deep learning alternative (PyTorch)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Result: classified_ground.las</a:t>
            </a:r>
          </a:p>
        </p:txBody>
      </p:sp>
      <p:sp>
        <p:nvSpPr>
          <p:cNvPr id="411" name="S411"/>
          <p:cNvSpPr txBox="1"/>
          <p:nvPr/>
        </p:nvSpPr>
        <p:spPr>
          <a:xfrm>
            <a:off x="3044952" y="1143000"/>
            <a:ext cx="2679192" cy="338328"/>
          </a:xfrm>
          <a:prstGeom prst="rect">
            <a:avLst/>
          </a:prstGeom>
          <a:solidFill>
            <a:srgbClr val="117777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DTM Generation</a:t>
            </a:r>
          </a:p>
        </p:txBody>
      </p:sp>
      <p:sp>
        <p:nvSpPr>
          <p:cNvPr id="412" name="S412"/>
          <p:cNvSpPr txBox="1"/>
          <p:nvPr/>
        </p:nvSpPr>
        <p:spPr>
          <a:xfrm>
            <a:off x="3044952" y="1481328"/>
            <a:ext cx="2679192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777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164592" indent="-164592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IDW interpolation with vectorised cKDTree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k=16 neighbors, power=2, batch-parallel workers=-1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Resolution: 0.5m Cloud-Optimized GeoTIFF (COG)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40× speedup over naive Python loops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Gaussian smoothing (σ=0.8) to reduce LiDAR noise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8 terrain derivatives computed:</a:t>
            </a:r>
          </a:p>
          <a:p>
            <a:pPr marL="320040" indent="0" algn="l"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870">
                <a:solidFill>
                  <a:srgbClr val="5D6D7E"/>
                </a:solidFill>
                <a:latin typeface="Calibri"/>
              </a:rPr>
              <a:t>  Slope · Aspect · TPI · Curvature · Roughness · Hillshade · TWI</a:t>
            </a:r>
          </a:p>
        </p:txBody>
      </p:sp>
      <p:sp>
        <p:nvSpPr>
          <p:cNvPr id="421" name="S421"/>
          <p:cNvSpPr txBox="1"/>
          <p:nvPr/>
        </p:nvSpPr>
        <p:spPr>
          <a:xfrm>
            <a:off x="5861304" y="1143000"/>
            <a:ext cx="2679192" cy="338328"/>
          </a:xfrm>
          <a:prstGeom prst="rect">
            <a:avLst/>
          </a:prstGeom>
          <a:solidFill>
            <a:srgbClr val="B94A00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Hydrology + Drainage</a:t>
            </a:r>
          </a:p>
        </p:txBody>
      </p:sp>
      <p:sp>
        <p:nvSpPr>
          <p:cNvPr id="422" name="S422"/>
          <p:cNvSpPr txBox="1"/>
          <p:nvPr/>
        </p:nvSpPr>
        <p:spPr>
          <a:xfrm>
            <a:off x="5861304" y="1481328"/>
            <a:ext cx="2679192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94A00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164592" indent="-164592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Depression fill: Wang &amp; Liu 2006 (pysheds)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D8 steepest-descent flow direction + accumulation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TWI = ln(Specific Catchment Area / tanβ)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Stream extraction via DFS topology O(N)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XGBoost on 10 terrain features (ROC-AUC 0.999)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MST channel routing (Kruskal’s algorithm, networkx)</a:t>
            </a:r>
          </a:p>
          <a:p>
            <a:pPr marL="164592" indent="-164592" algn="l">
              <a:spcBef>
                <a:spcPts val="120"/>
              </a:spcBef>
              <a:spcAft>
                <a:spcPts val="0"/>
              </a:spcAft>
              <a:buChar char="•"/>
            </a:pPr>
            <a:r>
              <a:rPr lang="en-US" sz="950">
                <a:solidFill>
                  <a:srgbClr val="1A1A2E"/>
                </a:solidFill>
                <a:latin typeface="Calibri"/>
              </a:rPr>
              <a:t>Manning’s trapezoidal channel sizing + cost → GPKG</a:t>
            </a:r>
          </a:p>
        </p:txBody>
      </p:sp>
      <p:sp>
        <p:nvSpPr>
          <p:cNvPr id="430" name="S430"/>
          <p:cNvSpPr txBox="1"/>
          <p:nvPr/>
        </p:nvSpPr>
        <p:spPr>
          <a:xfrm>
            <a:off x="228600" y="3611880"/>
            <a:ext cx="8686800" cy="3383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</a:rPr>
              <a:t>Design Parameters (10-Year Return Period)</a:t>
            </a:r>
          </a:p>
        </p:txBody>
      </p:sp>
      <p:sp>
        <p:nvSpPr>
          <p:cNvPr id="431" name="S431"/>
          <p:cNvSpPr txBox="1"/>
          <p:nvPr/>
        </p:nvSpPr>
        <p:spPr>
          <a:xfrm>
            <a:off x="228600" y="3950208"/>
            <a:ext cx="5166360" cy="777240"/>
          </a:xfrm>
          <a:prstGeom prst="rect">
            <a:avLst/>
          </a:prstGeom>
          <a:solidFill>
            <a:srgbClr val="EAF0F6"/>
          </a:solidFill>
          <a:ln w="19050">
            <a:solidFill>
              <a:srgbClr val="1B3A5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▸"/>
            </a:pPr>
            <a:r>
              <a:rPr lang="en-US" sz="1000">
                <a:solidFill>
                  <a:srgbClr val="1A1A2E"/>
                </a:solidFill>
                <a:latin typeface="Calibri"/>
              </a:rPr>
              <a:t>Manning’s n = 0.025  │  Side slope 1.5H:1V  │  Rainfall i = 50 mm/hr  │  C = 0.65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Char char="▸"/>
            </a:pPr>
            <a:r>
              <a:rPr lang="en-US" sz="1000">
                <a:solidFill>
                  <a:srgbClr val="1A1A2E"/>
                </a:solidFill>
                <a:latin typeface="Calibri"/>
              </a:rPr>
              <a:t>Velocity: 0.30 m/s (min) ≤ V ≤ 2.00 m/s (max)  │  Cost model: CPWD DSR 2023-24 depth-banded (avg ₹231–267/m incl. 12% GST)</a:t>
            </a:r>
          </a:p>
        </p:txBody>
      </p:sp>
      <p:sp>
        <p:nvSpPr>
          <p:cNvPr id="432" name="S432"/>
          <p:cNvSpPr txBox="1"/>
          <p:nvPr/>
        </p:nvSpPr>
        <p:spPr>
          <a:xfrm>
            <a:off x="5577840" y="3611880"/>
            <a:ext cx="3337560" cy="338328"/>
          </a:xfrm>
          <a:prstGeom prst="rect">
            <a:avLst/>
          </a:prstGeom>
          <a:solidFill>
            <a:srgbClr val="EAF0F6"/>
          </a:solidFill>
          <a:ln w="19050">
            <a:solidFill>
              <a:srgbClr val="117777"/>
            </a:solidFill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17777"/>
                </a:solidFill>
                <a:latin typeface="Calibri"/>
              </a:rPr>
              <a:t>XGBoost Feature Importance</a:t>
            </a:r>
          </a:p>
        </p:txBody>
      </p:sp>
      <p:pic>
        <p:nvPicPr>
          <p:cNvPr id="433" name="Picture 432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35" y="3611880"/>
            <a:ext cx="2022945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>
            <a:spLocks noGrp="1"/>
          </p:cNvSpPr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lang="en-GB" sz="3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Demonstration</a:t>
            </a:r>
            <a:endParaRPr sz="3000" b="1"/>
          </a:p>
        </p:txBody>
      </p:sp>
      <p:sp>
        <p:nvSpPr>
          <p:cNvPr id="98" name="Google Shape;98;p5"/>
          <p:cNvSpPr txBox="1">
            <a:spLocks noGrp="1"/>
          </p:cNvSpPr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lang="en-GB"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S500"/>
          <p:cNvSpPr txBox="1"/>
          <p:nvPr/>
        </p:nvSpPr>
        <p:spPr>
          <a:xfrm>
            <a:off x="228600" y="84124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D6D7E"/>
                </a:solidFill>
                <a:latin typeface="Calibri"/>
              </a:rPr>
              <a:t>Validated on 4 SVAMITVA villages (Gujarat &amp; Punjab) — ASPRS leave-out CV standard</a:t>
            </a:r>
          </a:p>
        </p:txBody>
      </p:sp>
      <p:sp>
        <p:nvSpPr>
          <p:cNvPr id="501" name="S501"/>
          <p:cNvSpPr txBox="1"/>
          <p:nvPr/>
        </p:nvSpPr>
        <p:spPr>
          <a:xfrm>
            <a:off x="228600" y="1143000"/>
            <a:ext cx="8686800" cy="3383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</a:rPr>
              <a:t>DTM Vertical Accuracy  (leave-out CV vs withheld LiDAR ground returns)</a:t>
            </a:r>
          </a:p>
        </p:txBody>
      </p:sp>
      <p:sp>
        <p:nvSpPr>
          <p:cNvPr id="502" name="S502"/>
          <p:cNvSpPr txBox="1"/>
          <p:nvPr/>
        </p:nvSpPr>
        <p:spPr>
          <a:xfrm>
            <a:off x="228600" y="1481328"/>
            <a:ext cx="8686800" cy="274320"/>
          </a:xfrm>
          <a:prstGeom prst="rect">
            <a:avLst/>
          </a:prstGeom>
          <a:solidFill>
            <a:srgbClr val="117777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</a:rPr>
              <a:t>Village         State      Points    Ground%   RMSE (m)  MAE (m)   LE90 (m)  Time</a:t>
            </a:r>
          </a:p>
        </p:txBody>
      </p:sp>
      <p:sp>
        <p:nvSpPr>
          <p:cNvPr id="503" name="S503"/>
          <p:cNvSpPr txBox="1"/>
          <p:nvPr/>
        </p:nvSpPr>
        <p:spPr>
          <a:xfrm>
            <a:off x="228600" y="1755648"/>
            <a:ext cx="8686800" cy="24688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A1A2E"/>
                </a:solidFill>
                <a:latin typeface="Calibri"/>
              </a:rPr>
              <a:t>Devdi              Gujarat  76.1M     65.2%     0.176     0.091     0.235     57.1s</a:t>
            </a:r>
          </a:p>
        </p:txBody>
      </p:sp>
      <p:sp>
        <p:nvSpPr>
          <p:cNvPr id="504" name="S504"/>
          <p:cNvSpPr txBox="1"/>
          <p:nvPr/>
        </p:nvSpPr>
        <p:spPr>
          <a:xfrm>
            <a:off x="228600" y="2002536"/>
            <a:ext cx="8686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A1A2E"/>
                </a:solidFill>
                <a:latin typeface="Calibri"/>
              </a:rPr>
              <a:t>Khapreta           Gujarat  193.1M    76.8%     0.146     0.081     0.191     54.3s</a:t>
            </a:r>
          </a:p>
        </p:txBody>
      </p:sp>
      <p:sp>
        <p:nvSpPr>
          <p:cNvPr id="505" name="S505"/>
          <p:cNvSpPr txBox="1"/>
          <p:nvPr/>
        </p:nvSpPr>
        <p:spPr>
          <a:xfrm>
            <a:off x="228600" y="2249424"/>
            <a:ext cx="8686800" cy="24688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A1A2E"/>
                </a:solidFill>
                <a:latin typeface="Calibri"/>
              </a:rPr>
              <a:t>Dhal Hoshiarpur    Punjab   35.0M     82.2%     0.097     0.055     0.129     32.2s</a:t>
            </a:r>
          </a:p>
        </p:txBody>
      </p:sp>
      <p:sp>
        <p:nvSpPr>
          <p:cNvPr id="506" name="S506"/>
          <p:cNvSpPr txBox="1"/>
          <p:nvPr/>
        </p:nvSpPr>
        <p:spPr>
          <a:xfrm>
            <a:off x="228600" y="2496312"/>
            <a:ext cx="8686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A1A2E"/>
                </a:solidFill>
                <a:latin typeface="Calibri"/>
              </a:rPr>
              <a:t>Chakhirasingh      Punjab   9.8M      56.6%     0.254     0.158     0.385     28.2s</a:t>
            </a:r>
          </a:p>
        </p:txBody>
      </p:sp>
      <p:sp>
        <p:nvSpPr>
          <p:cNvPr id="510" name="S510"/>
          <p:cNvSpPr txBox="1"/>
          <p:nvPr/>
        </p:nvSpPr>
        <p:spPr>
          <a:xfrm>
            <a:off x="228600" y="2807208"/>
            <a:ext cx="5257800" cy="320040"/>
          </a:xfrm>
          <a:prstGeom prst="rect">
            <a:avLst/>
          </a:prstGeom>
          <a:solidFill>
            <a:srgbClr val="117777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</a:rPr>
              <a:t>Waterlogging Risk Model  +  Cross-Village Transfer (XGBoost)</a:t>
            </a:r>
          </a:p>
        </p:txBody>
      </p:sp>
      <p:sp>
        <p:nvSpPr>
          <p:cNvPr id="511" name="S511"/>
          <p:cNvSpPr txBox="1"/>
          <p:nvPr/>
        </p:nvSpPr>
        <p:spPr>
          <a:xfrm>
            <a:off x="228600" y="3127248"/>
            <a:ext cx="5257800" cy="23774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b="1">
                <a:solidFill>
                  <a:srgbClr val="FFFFFF"/>
                </a:solidFill>
                <a:latin typeface="Calibri"/>
              </a:rPr>
              <a:t>Village         ROC-AUC  PR-AUC   F1       Prec     Recall</a:t>
            </a:r>
          </a:p>
        </p:txBody>
      </p:sp>
      <p:sp>
        <p:nvSpPr>
          <p:cNvPr id="512" name="S512"/>
          <p:cNvSpPr txBox="1"/>
          <p:nvPr/>
        </p:nvSpPr>
        <p:spPr>
          <a:xfrm>
            <a:off x="228600" y="3364992"/>
            <a:ext cx="5257800" cy="20116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1A1A2E"/>
                </a:solidFill>
                <a:latin typeface="Calibri"/>
              </a:rPr>
              <a:t>Devdi              0.9993   0.9812   0.9057   0.8464   0.9738</a:t>
            </a:r>
          </a:p>
        </p:txBody>
      </p:sp>
      <p:sp>
        <p:nvSpPr>
          <p:cNvPr id="513" name="S513"/>
          <p:cNvSpPr txBox="1"/>
          <p:nvPr/>
        </p:nvSpPr>
        <p:spPr>
          <a:xfrm>
            <a:off x="228600" y="3566160"/>
            <a:ext cx="5257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1A1A2E"/>
                </a:solidFill>
                <a:latin typeface="Calibri"/>
              </a:rPr>
              <a:t>Khapreta           0.9999   0.9967   0.9700   0.9664   0.9735</a:t>
            </a:r>
          </a:p>
        </p:txBody>
      </p:sp>
      <p:sp>
        <p:nvSpPr>
          <p:cNvPr id="514" name="S514"/>
          <p:cNvSpPr txBox="1"/>
          <p:nvPr/>
        </p:nvSpPr>
        <p:spPr>
          <a:xfrm>
            <a:off x="228600" y="3767328"/>
            <a:ext cx="5257800" cy="20116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1A1A2E"/>
                </a:solidFill>
                <a:latin typeface="Calibri"/>
              </a:rPr>
              <a:t>Dhal Hoshiarpur    0.9994   0.9831   0.9024   0.8468   0.9658</a:t>
            </a:r>
          </a:p>
        </p:txBody>
      </p:sp>
      <p:sp>
        <p:nvSpPr>
          <p:cNvPr id="515" name="S515"/>
          <p:cNvSpPr txBox="1"/>
          <p:nvPr/>
        </p:nvSpPr>
        <p:spPr>
          <a:xfrm>
            <a:off x="228600" y="3968496"/>
            <a:ext cx="5257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1A1A2E"/>
                </a:solidFill>
                <a:latin typeface="Calibri"/>
              </a:rPr>
              <a:t>Chakhirasingh      0.9989   0.9640   0.8399   0.7486   0.9567</a:t>
            </a:r>
          </a:p>
        </p:txBody>
      </p:sp>
      <p:sp>
        <p:nvSpPr>
          <p:cNvPr id="520" name="S520"/>
          <p:cNvSpPr txBox="1"/>
          <p:nvPr/>
        </p:nvSpPr>
        <p:spPr>
          <a:xfrm>
            <a:off x="5669280" y="2807208"/>
            <a:ext cx="3246120" cy="320040"/>
          </a:xfrm>
          <a:prstGeom prst="rect">
            <a:avLst/>
          </a:prstGeom>
          <a:solidFill>
            <a:srgbClr val="B94A00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Cross-Village Transfer AUC</a:t>
            </a:r>
          </a:p>
        </p:txBody>
      </p:sp>
      <p:sp>
        <p:nvSpPr>
          <p:cNvPr id="521" name="S521"/>
          <p:cNvSpPr txBox="1"/>
          <p:nvPr/>
        </p:nvSpPr>
        <p:spPr>
          <a:xfrm>
            <a:off x="5669280" y="3127248"/>
            <a:ext cx="3246120" cy="1069848"/>
          </a:xfrm>
          <a:prstGeom prst="rect">
            <a:avLst/>
          </a:prstGeom>
          <a:solidFill>
            <a:srgbClr val="FFFFFF"/>
          </a:solidFill>
          <a:ln w="19050">
            <a:solidFill>
              <a:srgbClr val="B94A00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1A1A2E"/>
                </a:solidFill>
                <a:latin typeface="Calibri"/>
              </a:rPr>
              <a:t>Trained on A, tested on B:</a:t>
            </a:r>
          </a:p>
          <a:p>
            <a:pPr>
              <a:spcBef>
                <a:spcPts val="120"/>
              </a:spcBef>
              <a:buNone/>
            </a:pPr>
            <a:endParaRPr lang="en-US" sz="600"/>
          </a:p>
          <a:p>
            <a:pPr algn="ctr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17777"/>
                </a:solidFill>
                <a:latin typeface="Calibri"/>
              </a:rPr>
              <a:t>Min AUC:  0.989</a:t>
            </a:r>
          </a:p>
          <a:p>
            <a:pPr algn="ctr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B3A5C"/>
                </a:solidFill>
                <a:latin typeface="Calibri"/>
              </a:rPr>
              <a:t>Max AUC:  1.000</a:t>
            </a:r>
          </a:p>
          <a:p>
            <a:pPr>
              <a:spcBef>
                <a:spcPts val="120"/>
              </a:spcBef>
              <a:buNone/>
            </a:pPr>
            <a:endParaRPr lang="en-US" sz="600"/>
          </a:p>
          <a:p>
            <a:pPr algn="ctr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B94A00"/>
                </a:solidFill>
                <a:latin typeface="Calibri"/>
              </a:rPr>
              <a:t>Gujarat ↔ Punjab  without retraining</a:t>
            </a:r>
          </a:p>
          <a:p>
            <a:pPr>
              <a:spcBef>
                <a:spcPts val="80"/>
              </a:spcBef>
              <a:buNone/>
            </a:pPr>
            <a:endParaRPr lang="en-US" sz="600"/>
          </a:p>
          <a:p>
            <a:pPr algn="ctr"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117777"/>
                </a:solidFill>
                <a:latin typeface="Calibri"/>
              </a:rPr>
              <a:t>TWI HIGH/LOW = 2.1–2.6×</a:t>
            </a:r>
          </a:p>
        </p:txBody>
      </p:sp>
      <p:sp>
        <p:nvSpPr>
          <p:cNvPr id="530" name="S530"/>
          <p:cNvSpPr txBox="1"/>
          <p:nvPr/>
        </p:nvSpPr>
        <p:spPr>
          <a:xfrm>
            <a:off x="228600" y="4206240"/>
            <a:ext cx="8686800" cy="256032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</a:rPr>
              <a:t>TOTAL: 2,851 channels  │  135 km drainage  │  ₹327 Lakhs (CPWD DSR 2023-24)  │  0 capacity exceedances  │  100% stream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>
            <a:spLocks noGrp="1"/>
          </p:cNvSpPr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lang="en-GB" sz="3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&amp; Key Learnings</a:t>
            </a:r>
            <a:endParaRPr sz="3000" b="1"/>
          </a:p>
        </p:txBody>
      </p:sp>
      <p:sp>
        <p:nvSpPr>
          <p:cNvPr id="105" name="Google Shape;105;p6"/>
          <p:cNvSpPr txBox="1">
            <a:spLocks noGrp="1"/>
          </p:cNvSpPr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lang="en-GB"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S601"/>
          <p:cNvSpPr txBox="1"/>
          <p:nvPr/>
        </p:nvSpPr>
        <p:spPr>
          <a:xfrm>
            <a:off x="228600" y="1143000"/>
            <a:ext cx="4160520" cy="3383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Innovations</a:t>
            </a:r>
          </a:p>
        </p:txBody>
      </p:sp>
      <p:sp>
        <p:nvSpPr>
          <p:cNvPr id="602" name="S602"/>
          <p:cNvSpPr txBox="1"/>
          <p:nvPr/>
        </p:nvSpPr>
        <p:spPr>
          <a:xfrm>
            <a:off x="228600" y="1481328"/>
            <a:ext cx="4160520" cy="65836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B3A5C"/>
                </a:solidFill>
                <a:latin typeface="Calibri"/>
              </a:rPr>
              <a:t>1.  Vectorised IDW Interpolation</a:t>
            </a:r>
          </a:p>
          <a:p>
            <a:pPr marL="228600" indent="0" algn="l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1A1A2E"/>
                </a:solidFill>
                <a:latin typeface="Calibri"/>
              </a:rPr>
              <a:t>cKDTree batch-query + NumPy weight computation: 40× speedup, 4M-cell grid in ~10s on CPU.</a:t>
            </a:r>
          </a:p>
        </p:txBody>
      </p:sp>
      <p:sp>
        <p:nvSpPr>
          <p:cNvPr id="603" name="S603"/>
          <p:cNvSpPr txBox="1"/>
          <p:nvPr/>
        </p:nvSpPr>
        <p:spPr>
          <a:xfrm>
            <a:off x="228600" y="2139696"/>
            <a:ext cx="41605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B3A5C"/>
                </a:solidFill>
                <a:latin typeface="Calibri"/>
              </a:rPr>
              <a:t>2.  Physically-Grounded Waterlogging Labels</a:t>
            </a:r>
          </a:p>
          <a:p>
            <a:pPr marL="228600" indent="0" algn="l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1A1A2E"/>
                </a:solidFill>
                <a:latin typeface="Calibri"/>
              </a:rPr>
              <a:t>No flood records exist — gold-standard labels derived from terrain physics (TWI, depression, curvature).</a:t>
            </a:r>
          </a:p>
        </p:txBody>
      </p:sp>
      <p:sp>
        <p:nvSpPr>
          <p:cNvPr id="604" name="S604"/>
          <p:cNvSpPr txBox="1"/>
          <p:nvPr/>
        </p:nvSpPr>
        <p:spPr>
          <a:xfrm>
            <a:off x="228600" y="2798064"/>
            <a:ext cx="4160520" cy="65836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B3A5C"/>
                </a:solidFill>
                <a:latin typeface="Calibri"/>
              </a:rPr>
              <a:t>3.  Cross-Village Transfer Learning</a:t>
            </a:r>
          </a:p>
          <a:p>
            <a:pPr marL="228600" indent="0" algn="l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1A1A2E"/>
                </a:solidFill>
                <a:latin typeface="Calibri"/>
              </a:rPr>
              <a:t>XGBoost trained on one village → AUC 0.989–1.000 on unseen villages across state boundaries.</a:t>
            </a:r>
          </a:p>
        </p:txBody>
      </p:sp>
      <p:sp>
        <p:nvSpPr>
          <p:cNvPr id="605" name="S605"/>
          <p:cNvSpPr txBox="1"/>
          <p:nvPr/>
        </p:nvSpPr>
        <p:spPr>
          <a:xfrm>
            <a:off x="228600" y="3456432"/>
            <a:ext cx="41605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B3A5C"/>
                </a:solidFill>
                <a:latin typeface="Calibri"/>
              </a:rPr>
              <a:t>4.  Honest ASPRS DTM Validation</a:t>
            </a:r>
          </a:p>
          <a:p>
            <a:pPr marL="228600" indent="0" algn="l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1A1A2E"/>
                </a:solidFill>
                <a:latin typeface="Calibri"/>
              </a:rPr>
              <a:t>Leave-out CV vs withheld LiDAR ground returns — RMSE/LE90 against real measured elevations.</a:t>
            </a:r>
          </a:p>
        </p:txBody>
      </p:sp>
      <p:sp>
        <p:nvSpPr>
          <p:cNvPr id="615" name="S615"/>
          <p:cNvSpPr txBox="1"/>
          <p:nvPr/>
        </p:nvSpPr>
        <p:spPr>
          <a:xfrm>
            <a:off x="4572000" y="1143000"/>
            <a:ext cx="4069080" cy="338328"/>
          </a:xfrm>
          <a:prstGeom prst="rect">
            <a:avLst/>
          </a:prstGeom>
          <a:solidFill>
            <a:srgbClr val="117777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Key Learnings</a:t>
            </a:r>
          </a:p>
        </p:txBody>
      </p:sp>
      <p:sp>
        <p:nvSpPr>
          <p:cNvPr id="616" name="S616"/>
          <p:cNvSpPr txBox="1"/>
          <p:nvPr/>
        </p:nvSpPr>
        <p:spPr>
          <a:xfrm>
            <a:off x="4572000" y="1481328"/>
            <a:ext cx="4069080" cy="65836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7777"/>
                </a:solidFill>
                <a:latin typeface="Calibri"/>
              </a:rPr>
              <a:t>1.  Validation must be domain-correct</a:t>
            </a:r>
          </a:p>
          <a:p>
            <a:pPr marL="228600" indent="0" algn="l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1A1A2E"/>
                </a:solidFill>
                <a:latin typeface="Calibri"/>
              </a:rPr>
              <a:t>CV on the same data is NOT validation. Hold out real LiDAR returns and measure against them.</a:t>
            </a:r>
          </a:p>
        </p:txBody>
      </p:sp>
      <p:sp>
        <p:nvSpPr>
          <p:cNvPr id="617" name="S617"/>
          <p:cNvSpPr txBox="1"/>
          <p:nvPr/>
        </p:nvSpPr>
        <p:spPr>
          <a:xfrm>
            <a:off x="4572000" y="2139696"/>
            <a:ext cx="4069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7777"/>
                </a:solidFill>
                <a:latin typeface="Calibri"/>
              </a:rPr>
              <a:t>2.  Terrain features transfer, thresholds don’t</a:t>
            </a:r>
          </a:p>
          <a:p>
            <a:pPr marL="228600" indent="0" algn="l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1A1A2E"/>
                </a:solidFill>
                <a:latin typeface="Calibri"/>
              </a:rPr>
              <a:t>XGBoost learns universal physics of water-on-terrain — not village-specific memorised thresholds.</a:t>
            </a:r>
          </a:p>
        </p:txBody>
      </p:sp>
      <p:sp>
        <p:nvSpPr>
          <p:cNvPr id="618" name="S618"/>
          <p:cNvSpPr txBox="1"/>
          <p:nvPr/>
        </p:nvSpPr>
        <p:spPr>
          <a:xfrm>
            <a:off x="4572000" y="2798064"/>
            <a:ext cx="4069080" cy="65836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7777"/>
                </a:solidFill>
                <a:latin typeface="Calibri"/>
              </a:rPr>
              <a:t>3.  IDW &gt;&gt; Kriging at scale</a:t>
            </a:r>
          </a:p>
          <a:p>
            <a:pPr marL="228600" indent="0" algn="l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1A1A2E"/>
                </a:solidFill>
                <a:latin typeface="Calibri"/>
              </a:rPr>
              <a:t>Vectorised IDW gives RMSE 0.10–0.25m at 40× less compute than Kriging for 50M+ point clouds.</a:t>
            </a:r>
          </a:p>
        </p:txBody>
      </p:sp>
      <p:sp>
        <p:nvSpPr>
          <p:cNvPr id="619" name="S619"/>
          <p:cNvSpPr txBox="1"/>
          <p:nvPr/>
        </p:nvSpPr>
        <p:spPr>
          <a:xfrm>
            <a:off x="4572000" y="3456432"/>
            <a:ext cx="4069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7777"/>
                </a:solidFill>
                <a:latin typeface="Calibri"/>
              </a:rPr>
              <a:t>4.  Catchment area drives drainage design</a:t>
            </a:r>
          </a:p>
          <a:p>
            <a:pPr marL="228600" indent="0" algn="l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1A1A2E"/>
                </a:solidFill>
                <a:latin typeface="Calibri"/>
              </a:rPr>
              <a:t>Real flow-accumulation catchments (not length proxies) produce hydraulically consistent sizing.</a:t>
            </a:r>
          </a:p>
        </p:txBody>
      </p:sp>
      <p:sp>
        <p:nvSpPr>
          <p:cNvPr id="630" name="S630"/>
          <p:cNvSpPr txBox="1"/>
          <p:nvPr/>
        </p:nvSpPr>
        <p:spPr>
          <a:xfrm>
            <a:off x="228600" y="4142232"/>
            <a:ext cx="868680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</a:rPr>
              <a:t>Next Steps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Calibri"/>
              </a:rPr>
              <a:t>(1) Cross-validate with NRSC National Waterlogging Atlas flood records  (2) Live dashboard deployed on Streamlit Cloud ✓  (3) Scale to all 10 SVAMITVA villages in one batch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ctrTitle"/>
          </p:nvPr>
        </p:nvSpPr>
        <p:spPr>
          <a:xfrm>
            <a:off x="0" y="18796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lang="en-GB" sz="3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000" b="1"/>
          </a:p>
        </p:txBody>
      </p:sp>
      <p:sp>
        <p:nvSpPr>
          <p:cNvPr id="112" name="Google Shape;112;p7"/>
          <p:cNvSpPr txBox="1">
            <a:spLocks noGrp="1"/>
          </p:cNvSpPr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lang="en-GB"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0" name="S790"/>
          <p:cNvSpPr txBox="1"/>
          <p:nvPr/>
        </p:nvSpPr>
        <p:spPr>
          <a:xfrm>
            <a:off x="228600" y="804672"/>
            <a:ext cx="1965960" cy="1005840"/>
          </a:xfrm>
          <a:prstGeom prst="rect">
            <a:avLst/>
          </a:prstGeom>
          <a:solidFill>
            <a:srgbClr val="EAF0F6"/>
          </a:solidFill>
          <a:ln w="19050">
            <a:solidFill>
              <a:srgbClr val="85200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85200C"/>
                </a:solidFill>
                <a:latin typeface="Calibri"/>
              </a:rPr>
              <a:t>40×</a:t>
            </a:r>
          </a:p>
          <a:p>
            <a:pPr algn="ctr"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D6D7E"/>
                </a:solidFill>
                <a:latin typeface="Calibri"/>
              </a:rPr>
              <a:t>DTM Speedup</a:t>
            </a:r>
          </a:p>
        </p:txBody>
      </p:sp>
      <p:sp>
        <p:nvSpPr>
          <p:cNvPr id="791" name="S791"/>
          <p:cNvSpPr txBox="1"/>
          <p:nvPr/>
        </p:nvSpPr>
        <p:spPr>
          <a:xfrm>
            <a:off x="2331720" y="804672"/>
            <a:ext cx="1965960" cy="1005840"/>
          </a:xfrm>
          <a:prstGeom prst="rect">
            <a:avLst/>
          </a:prstGeom>
          <a:solidFill>
            <a:srgbClr val="EAF0F6"/>
          </a:solidFill>
          <a:ln w="19050">
            <a:solidFill>
              <a:srgbClr val="117777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17777"/>
                </a:solidFill>
                <a:latin typeface="Calibri"/>
              </a:rPr>
              <a:t>AUC 0.999</a:t>
            </a:r>
          </a:p>
          <a:p>
            <a:pPr algn="ctr"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D6D7E"/>
                </a:solidFill>
                <a:latin typeface="Calibri"/>
              </a:rPr>
              <a:t>Model Accuracy</a:t>
            </a:r>
          </a:p>
        </p:txBody>
      </p:sp>
      <p:sp>
        <p:nvSpPr>
          <p:cNvPr id="792" name="S792"/>
          <p:cNvSpPr txBox="1"/>
          <p:nvPr/>
        </p:nvSpPr>
        <p:spPr>
          <a:xfrm>
            <a:off x="4434840" y="804672"/>
            <a:ext cx="1965960" cy="1005840"/>
          </a:xfrm>
          <a:prstGeom prst="rect">
            <a:avLst/>
          </a:prstGeom>
          <a:solidFill>
            <a:srgbClr val="EAF0F6"/>
          </a:solidFill>
          <a:ln w="19050">
            <a:solidFill>
              <a:srgbClr val="1B3A5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3A5C"/>
                </a:solidFill>
                <a:latin typeface="Calibri"/>
              </a:rPr>
              <a:t>2,851</a:t>
            </a:r>
          </a:p>
          <a:p>
            <a:pPr algn="ctr"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D6D7E"/>
                </a:solidFill>
                <a:latin typeface="Calibri"/>
              </a:rPr>
              <a:t>Channels Designed</a:t>
            </a:r>
          </a:p>
        </p:txBody>
      </p:sp>
      <p:sp>
        <p:nvSpPr>
          <p:cNvPr id="793" name="S793"/>
          <p:cNvSpPr txBox="1"/>
          <p:nvPr/>
        </p:nvSpPr>
        <p:spPr>
          <a:xfrm>
            <a:off x="6537960" y="804672"/>
            <a:ext cx="1965960" cy="1005840"/>
          </a:xfrm>
          <a:prstGeom prst="rect">
            <a:avLst/>
          </a:prstGeom>
          <a:solidFill>
            <a:srgbClr val="EAF0F6"/>
          </a:solidFill>
          <a:ln w="19050">
            <a:solidFill>
              <a:srgbClr val="B94A00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B94A00"/>
                </a:solidFill>
                <a:latin typeface="Calibri"/>
              </a:rPr>
              <a:t>₹327 L</a:t>
            </a:r>
          </a:p>
          <a:p>
            <a:pPr algn="ctr"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D6D7E"/>
                </a:solidFill>
                <a:latin typeface="Calibri"/>
              </a:rPr>
              <a:t>CPWD-Costed Budget</a:t>
            </a:r>
          </a:p>
        </p:txBody>
      </p:sp>
      <p:sp>
        <p:nvSpPr>
          <p:cNvPr id="700" name="S700"/>
          <p:cNvSpPr txBox="1"/>
          <p:nvPr/>
        </p:nvSpPr>
        <p:spPr>
          <a:xfrm>
            <a:off x="228600" y="2944368"/>
            <a:ext cx="8686800" cy="31089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25" tIns="91425" rIns="91425" bIns="91425" anchor="ctr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</a:rPr>
              <a:t>DTM Drainage AI  |  Problem Statement PS-2  |  Automated LiDAR-to-Drainage Pipeline</a:t>
            </a:r>
          </a:p>
        </p:txBody>
      </p:sp>
      <p:sp>
        <p:nvSpPr>
          <p:cNvPr id="701" name="S701"/>
          <p:cNvSpPr txBox="1"/>
          <p:nvPr/>
        </p:nvSpPr>
        <p:spPr>
          <a:xfrm>
            <a:off x="228600" y="3310128"/>
            <a:ext cx="2606040" cy="658368"/>
          </a:xfrm>
          <a:prstGeom prst="rect">
            <a:avLst/>
          </a:prstGeom>
          <a:solidFill>
            <a:srgbClr val="EAF0F6"/>
          </a:solidFill>
          <a:ln w="19050">
            <a:solidFill>
              <a:srgbClr val="85200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85200C"/>
                </a:solidFill>
                <a:latin typeface="Calibri"/>
              </a:rPr>
              <a:t>RMSE 0.097–0.254 m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D6D7E"/>
                </a:solidFill>
                <a:latin typeface="Calibri"/>
              </a:rPr>
              <a:t>DTM Vertical Accuracy</a:t>
            </a:r>
          </a:p>
        </p:txBody>
      </p:sp>
      <p:sp>
        <p:nvSpPr>
          <p:cNvPr id="702" name="S702"/>
          <p:cNvSpPr txBox="1"/>
          <p:nvPr/>
        </p:nvSpPr>
        <p:spPr>
          <a:xfrm>
            <a:off x="3063240" y="3310128"/>
            <a:ext cx="2606040" cy="658368"/>
          </a:xfrm>
          <a:prstGeom prst="rect">
            <a:avLst/>
          </a:prstGeom>
          <a:solidFill>
            <a:srgbClr val="EAF0F6"/>
          </a:solidFill>
          <a:ln w="19050">
            <a:solidFill>
              <a:srgbClr val="117777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17777"/>
                </a:solidFill>
                <a:latin typeface="Calibri"/>
              </a:rPr>
              <a:t>AUC 0.999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D6D7E"/>
                </a:solidFill>
                <a:latin typeface="Calibri"/>
              </a:rPr>
              <a:t>Waterlogging Risk Model</a:t>
            </a:r>
          </a:p>
        </p:txBody>
      </p:sp>
      <p:sp>
        <p:nvSpPr>
          <p:cNvPr id="703" name="S703"/>
          <p:cNvSpPr txBox="1"/>
          <p:nvPr/>
        </p:nvSpPr>
        <p:spPr>
          <a:xfrm>
            <a:off x="5897880" y="3310128"/>
            <a:ext cx="2606040" cy="658368"/>
          </a:xfrm>
          <a:prstGeom prst="rect">
            <a:avLst/>
          </a:prstGeom>
          <a:solidFill>
            <a:srgbClr val="EAF0F6"/>
          </a:solidFill>
          <a:ln w="19050">
            <a:solidFill>
              <a:srgbClr val="1B3A5C"/>
            </a:solidFill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3A5C"/>
                </a:solidFill>
                <a:latin typeface="Calibri"/>
              </a:rPr>
              <a:t>2,851 Channels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D6D7E"/>
                </a:solidFill>
                <a:latin typeface="Calibri"/>
              </a:rPr>
              <a:t>135 km  |  ₹327 Lakhs</a:t>
            </a:r>
          </a:p>
        </p:txBody>
      </p:sp>
      <p:sp>
        <p:nvSpPr>
          <p:cNvPr id="705" name="S705"/>
          <p:cNvSpPr txBox="1"/>
          <p:nvPr/>
        </p:nvSpPr>
        <p:spPr>
          <a:xfrm>
            <a:off x="457200" y="402336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D6D7E"/>
                </a:solidFill>
                <a:latin typeface="Calibri"/>
              </a:rPr>
              <a:t>Open Source:  github.com/charansaiponnada/DTM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D6D7E"/>
                </a:solidFill>
                <a:latin typeface="Calibri"/>
              </a:rPr>
              <a:t>Contact:  Charan Sai Ponnada  |  Siddhartha Academy of Higher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1157</Words>
  <Application>Microsoft Office PowerPoint</Application>
  <PresentationFormat>On-screen Show (16:9)</PresentationFormat>
  <Paragraphs>146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Simple Light</vt:lpstr>
      <vt:lpstr>National AI/ML Hackathon</vt:lpstr>
      <vt:lpstr>Proposed Solution</vt:lpstr>
      <vt:lpstr>System Architecture / Workflow</vt:lpstr>
      <vt:lpstr>Implementation &amp; Technical Approach</vt:lpstr>
      <vt:lpstr>Results &amp; Demonstration</vt:lpstr>
      <vt:lpstr>Innovation &amp; Key Learnings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Charan Sai Ponnada</cp:lastModifiedBy>
  <cp:revision>2</cp:revision>
  <dcterms:modified xsi:type="dcterms:W3CDTF">2026-06-27T05:06:32Z</dcterms:modified>
</cp:coreProperties>
</file>