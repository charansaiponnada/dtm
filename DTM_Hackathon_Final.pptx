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3" r:id="rId3"/>
    <p:sldId id="258" r:id="rId4"/>
    <p:sldId id="259" r:id="rId5"/>
    <p:sldId id="260" r:id="rId6"/>
    <p:sldId id="265" r:id="rId7"/>
    <p:sldId id="266" r:id="rId8"/>
    <p:sldId id="261" r:id="rId9"/>
    <p:sldId id="264" r:id="rId10"/>
    <p:sldId id="267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gHH8pgmPEI3bzDpiTgZ0hJ6f+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396" y="17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0" name="Google Shape;6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1CC309F-0032-A02D-B61B-82BF5B3D2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:notes">
            <a:extLst>
              <a:ext uri="{FF2B5EF4-FFF2-40B4-BE49-F238E27FC236}">
                <a16:creationId xmlns:a16="http://schemas.microsoft.com/office/drawing/2014/main" id="{E121A435-B78C-2226-4505-C26937CC69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2:notes">
            <a:extLst>
              <a:ext uri="{FF2B5EF4-FFF2-40B4-BE49-F238E27FC236}">
                <a16:creationId xmlns:a16="http://schemas.microsoft.com/office/drawing/2014/main" id="{B0AECDB7-277F-AE3A-8461-28C982D047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4" name="Google Shape;74;p2:notes">
            <a:extLst>
              <a:ext uri="{FF2B5EF4-FFF2-40B4-BE49-F238E27FC236}">
                <a16:creationId xmlns:a16="http://schemas.microsoft.com/office/drawing/2014/main" id="{BCAE30C7-386E-1C51-194D-CF55D3CBD2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6029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1" name="Google Shape;8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" name="Google Shape;8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" name="Google Shape;102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6A15FD1A-1D57-B42E-83E5-28F11398C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>
            <a:extLst>
              <a:ext uri="{FF2B5EF4-FFF2-40B4-BE49-F238E27FC236}">
                <a16:creationId xmlns:a16="http://schemas.microsoft.com/office/drawing/2014/main" id="{70A92C55-CBF6-01DF-A246-91FAA5B32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7:notes">
            <a:extLst>
              <a:ext uri="{FF2B5EF4-FFF2-40B4-BE49-F238E27FC236}">
                <a16:creationId xmlns:a16="http://schemas.microsoft.com/office/drawing/2014/main" id="{4FCF873E-65E4-98C7-5959-F3DF1816EF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9" name="Google Shape;109;p7:notes">
            <a:extLst>
              <a:ext uri="{FF2B5EF4-FFF2-40B4-BE49-F238E27FC236}">
                <a16:creationId xmlns:a16="http://schemas.microsoft.com/office/drawing/2014/main" id="{85103D83-19DA-3118-4BA1-924D76399D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4792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>
          <a:extLst>
            <a:ext uri="{FF2B5EF4-FFF2-40B4-BE49-F238E27FC236}">
              <a16:creationId xmlns:a16="http://schemas.microsoft.com/office/drawing/2014/main" id="{5551A67B-8B8C-CE5C-78D5-35E4D6D5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>
            <a:extLst>
              <a:ext uri="{FF2B5EF4-FFF2-40B4-BE49-F238E27FC236}">
                <a16:creationId xmlns:a16="http://schemas.microsoft.com/office/drawing/2014/main" id="{1EE7A252-1F10-0F67-BC5E-4B56570EEB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7:notes">
            <a:extLst>
              <a:ext uri="{FF2B5EF4-FFF2-40B4-BE49-F238E27FC236}">
                <a16:creationId xmlns:a16="http://schemas.microsoft.com/office/drawing/2014/main" id="{DED5F0CA-0BD8-DFF0-A13A-DE8EF1A27F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9" name="Google Shape;109;p7:notes">
            <a:extLst>
              <a:ext uri="{FF2B5EF4-FFF2-40B4-BE49-F238E27FC236}">
                <a16:creationId xmlns:a16="http://schemas.microsoft.com/office/drawing/2014/main" id="{EC775E46-F388-757A-58ED-274DB602BE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13980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"/>
          <p:cNvSpPr txBox="1">
            <a:spLocks noGrp="1"/>
          </p:cNvSpPr>
          <p:nvPr>
            <p:ph type="ctrTitle"/>
          </p:nvPr>
        </p:nvSpPr>
        <p:spPr>
          <a:xfrm>
            <a:off x="0" y="127526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National AI/ML Hackathon</a:t>
            </a:r>
            <a:endParaRPr sz="3000" b="1"/>
          </a:p>
        </p:txBody>
      </p:sp>
      <p:sp>
        <p:nvSpPr>
          <p:cNvPr id="63" name="Google Shape;63;p1"/>
          <p:cNvSpPr txBox="1"/>
          <p:nvPr/>
        </p:nvSpPr>
        <p:spPr>
          <a:xfrm>
            <a:off x="1197420" y="1991798"/>
            <a:ext cx="70158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Final Round Presentation</a:t>
            </a: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4" name="Google Shape;64;p1" title="IIT TP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76113" y="214667"/>
            <a:ext cx="1274214" cy="805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" title="IITTNiF Logo 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02219" y="214657"/>
            <a:ext cx="2058414" cy="805087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" title="NMICPS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60634" y="168194"/>
            <a:ext cx="898012" cy="898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" title="1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7793" y="270856"/>
            <a:ext cx="2613152" cy="69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" title="nic-logo-nic-logo-1-bilingual-sans-01.jp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790950" y="214672"/>
            <a:ext cx="1677247" cy="8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S69"/>
          <p:cNvSpPr txBox="1"/>
          <p:nvPr/>
        </p:nvSpPr>
        <p:spPr>
          <a:xfrm>
            <a:off x="1340285" y="2664083"/>
            <a:ext cx="6615496" cy="1654269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85200C"/>
                </a:solidFill>
                <a:latin typeface="Calibri"/>
              </a:rPr>
              <a:t>Team ID: AIML-F-020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/>
              </a:rPr>
              <a:t>Organization: Siddhartha Academy of Higher Education</a:t>
            </a:r>
          </a:p>
          <a:p>
            <a:pPr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B3A5C"/>
                </a:solidFill>
                <a:latin typeface="Calibri"/>
              </a:rPr>
              <a:t>Solution Title:</a:t>
            </a:r>
          </a:p>
          <a:p>
            <a:pPr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B94A00"/>
                </a:solidFill>
                <a:latin typeface="Calibri"/>
              </a:rPr>
              <a:t>DTM Drainage AI — Automated LiDAR-to-Drainage Pipeline</a:t>
            </a:r>
          </a:p>
          <a:p>
            <a:pPr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5D6D7E"/>
                </a:solidFill>
                <a:latin typeface="Calibri"/>
              </a:rPr>
              <a:t>Problem Statement: PS-2  |  DTM Creation &amp; Drainage Network</a:t>
            </a:r>
          </a:p>
        </p:txBody>
      </p:sp>
      <p:sp>
        <p:nvSpPr>
          <p:cNvPr id="70" name="Google Shape;70;p1"/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92D45A8A-73C7-43C9-9A80-4FC95724F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">
            <a:extLst>
              <a:ext uri="{FF2B5EF4-FFF2-40B4-BE49-F238E27FC236}">
                <a16:creationId xmlns:a16="http://schemas.microsoft.com/office/drawing/2014/main" id="{9B102893-C29C-7850-68C5-F9806E67F5A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Solution</a:t>
            </a:r>
            <a:endParaRPr sz="3000" b="1"/>
          </a:p>
        </p:txBody>
      </p:sp>
      <p:sp>
        <p:nvSpPr>
          <p:cNvPr id="77" name="Google Shape;77;p2">
            <a:extLst>
              <a:ext uri="{FF2B5EF4-FFF2-40B4-BE49-F238E27FC236}">
                <a16:creationId xmlns:a16="http://schemas.microsoft.com/office/drawing/2014/main" id="{ABF26BE4-83E7-C7C8-B8F8-D642CA1EC5C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0" name="S200">
            <a:extLst>
              <a:ext uri="{FF2B5EF4-FFF2-40B4-BE49-F238E27FC236}">
                <a16:creationId xmlns:a16="http://schemas.microsoft.com/office/drawing/2014/main" id="{7FBF73E6-B253-6331-4C51-C1770A672F01}"/>
              </a:ext>
            </a:extLst>
          </p:cNvPr>
          <p:cNvSpPr txBox="1"/>
          <p:nvPr/>
        </p:nvSpPr>
        <p:spPr>
          <a:xfrm>
            <a:off x="228600" y="84124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One command pipeline: raw LAS/LAZ → 0.5m DTM + waterlogging risk map + costed drainage network</a:t>
            </a:r>
          </a:p>
        </p:txBody>
      </p:sp>
      <p:sp>
        <p:nvSpPr>
          <p:cNvPr id="201" name="S201">
            <a:extLst>
              <a:ext uri="{FF2B5EF4-FFF2-40B4-BE49-F238E27FC236}">
                <a16:creationId xmlns:a16="http://schemas.microsoft.com/office/drawing/2014/main" id="{6C8C2750-FE78-2184-09B0-C3BD7A6D8829}"/>
              </a:ext>
            </a:extLst>
          </p:cNvPr>
          <p:cNvSpPr txBox="1"/>
          <p:nvPr/>
        </p:nvSpPr>
        <p:spPr>
          <a:xfrm>
            <a:off x="228600" y="1143000"/>
            <a:ext cx="3886200" cy="34747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</a:rPr>
              <a:t>What We Built</a:t>
            </a:r>
          </a:p>
        </p:txBody>
      </p:sp>
      <p:sp>
        <p:nvSpPr>
          <p:cNvPr id="202" name="S202">
            <a:extLst>
              <a:ext uri="{FF2B5EF4-FFF2-40B4-BE49-F238E27FC236}">
                <a16:creationId xmlns:a16="http://schemas.microsoft.com/office/drawing/2014/main" id="{8A866936-9CC7-54B6-4E33-DD22B2F25B2A}"/>
              </a:ext>
            </a:extLst>
          </p:cNvPr>
          <p:cNvSpPr txBox="1"/>
          <p:nvPr/>
        </p:nvSpPr>
        <p:spPr>
          <a:xfrm>
            <a:off x="228600" y="1490472"/>
            <a:ext cx="38862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182880" indent="-182880" algn="l">
              <a:spcBef>
                <a:spcPts val="2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End-to-end 6-stage automated pipeline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Single command: </a:t>
            </a:r>
            <a:r>
              <a:rPr lang="en-US" sz="1100" dirty="0" err="1">
                <a:solidFill>
                  <a:srgbClr val="1A1A2E"/>
                </a:solidFill>
                <a:latin typeface="Calibri"/>
              </a:rPr>
              <a:t>dtm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-pipeline --input </a:t>
            </a:r>
            <a:r>
              <a:rPr lang="en-US" sz="1100" dirty="0" err="1">
                <a:solidFill>
                  <a:srgbClr val="1A1A2E"/>
                </a:solidFill>
                <a:latin typeface="Calibri"/>
              </a:rPr>
              <a:t>file.las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 --evaluate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Batch mode processes all SVAMITVA villages in one run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Live </a:t>
            </a:r>
            <a:r>
              <a:rPr lang="en-US" sz="1100" dirty="0" err="1">
                <a:solidFill>
                  <a:srgbClr val="1A1A2E"/>
                </a:solidFill>
                <a:latin typeface="Calibri"/>
              </a:rPr>
              <a:t>Streamlit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 dashboard — deployed on </a:t>
            </a:r>
            <a:r>
              <a:rPr lang="en-US" sz="1100" dirty="0" err="1">
                <a:solidFill>
                  <a:srgbClr val="1A1A2E"/>
                </a:solidFill>
                <a:latin typeface="Calibri"/>
              </a:rPr>
              <a:t>Streamlit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 Cloud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OGC-compliant output: Cloud-Optimized </a:t>
            </a:r>
            <a:r>
              <a:rPr lang="en-US" sz="1100" dirty="0" err="1">
                <a:solidFill>
                  <a:srgbClr val="1A1A2E"/>
                </a:solidFill>
                <a:latin typeface="Calibri"/>
              </a:rPr>
              <a:t>GeoTIFF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 + </a:t>
            </a:r>
            <a:r>
              <a:rPr lang="en-US" sz="1100" dirty="0" err="1">
                <a:solidFill>
                  <a:srgbClr val="1A1A2E"/>
                </a:solidFill>
                <a:latin typeface="Calibri"/>
              </a:rPr>
              <a:t>GeoPackage</a:t>
            </a:r>
            <a:endParaRPr lang="en-US" sz="1100" dirty="0">
              <a:solidFill>
                <a:srgbClr val="1A1A2E"/>
              </a:solidFill>
              <a:latin typeface="Calibri"/>
            </a:endParaRP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Open-source, fully documented, reproducible pipeline</a:t>
            </a:r>
          </a:p>
        </p:txBody>
      </p:sp>
      <p:sp>
        <p:nvSpPr>
          <p:cNvPr id="203" name="S203">
            <a:extLst>
              <a:ext uri="{FF2B5EF4-FFF2-40B4-BE49-F238E27FC236}">
                <a16:creationId xmlns:a16="http://schemas.microsoft.com/office/drawing/2014/main" id="{40CA22A9-B4DE-4259-9144-4F2AD47ABCC4}"/>
              </a:ext>
            </a:extLst>
          </p:cNvPr>
          <p:cNvSpPr txBox="1"/>
          <p:nvPr/>
        </p:nvSpPr>
        <p:spPr>
          <a:xfrm>
            <a:off x="4343400" y="1143000"/>
            <a:ext cx="3886200" cy="347472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</a:rPr>
              <a:t>Key Differentiators</a:t>
            </a:r>
          </a:p>
        </p:txBody>
      </p:sp>
      <p:sp>
        <p:nvSpPr>
          <p:cNvPr id="204" name="S204">
            <a:extLst>
              <a:ext uri="{FF2B5EF4-FFF2-40B4-BE49-F238E27FC236}">
                <a16:creationId xmlns:a16="http://schemas.microsoft.com/office/drawing/2014/main" id="{1FBB62E8-AAF1-69FD-A565-87BD7A7F0C22}"/>
              </a:ext>
            </a:extLst>
          </p:cNvPr>
          <p:cNvSpPr txBox="1"/>
          <p:nvPr/>
        </p:nvSpPr>
        <p:spPr>
          <a:xfrm>
            <a:off x="4343400" y="1490472"/>
            <a:ext cx="3886200" cy="1941527"/>
          </a:xfrm>
          <a:prstGeom prst="rect">
            <a:avLst/>
          </a:prstGeom>
          <a:solidFill>
            <a:srgbClr val="FFFFFF"/>
          </a:solidFill>
          <a:ln w="19050">
            <a:solidFill>
              <a:srgbClr val="117777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182880" indent="-182880" algn="l">
              <a:spcBef>
                <a:spcPts val="200"/>
              </a:spcBef>
              <a:spcAft>
                <a:spcPts val="0"/>
              </a:spcAft>
              <a:buChar char="•"/>
            </a:pPr>
            <a:r>
              <a:rPr lang="en-US" sz="1100" dirty="0" err="1">
                <a:solidFill>
                  <a:srgbClr val="1A1A2E"/>
                </a:solidFill>
                <a:latin typeface="Calibri"/>
              </a:rPr>
              <a:t>Vectorised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 IDW </a:t>
            </a:r>
            <a:r>
              <a:rPr lang="en-US" sz="1100" dirty="0" err="1">
                <a:solidFill>
                  <a:srgbClr val="1A1A2E"/>
                </a:solidFill>
                <a:latin typeface="Calibri"/>
              </a:rPr>
              <a:t>cKDTree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 (k=16): 40× speedup, ~10s per 4M-cell grid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 err="1">
                <a:solidFill>
                  <a:srgbClr val="1A1A2E"/>
                </a:solidFill>
                <a:latin typeface="Calibri"/>
              </a:rPr>
              <a:t>XGBoost</a:t>
            </a:r>
            <a:r>
              <a:rPr lang="en-US" sz="1100" dirty="0">
                <a:solidFill>
                  <a:srgbClr val="1A1A2E"/>
                </a:solidFill>
                <a:latin typeface="Calibri"/>
              </a:rPr>
              <a:t> waterlogging model: ROC-AUC 0.999 across all villages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Cross-village transfer AUC 0.989–1.000 (Gujarat ↔ Punjab)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ASPRS validation: leave-out CV vs withheld LiDAR returns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Minimum Spanning Tree routing + Manning’s trapezoidal sizing</a:t>
            </a:r>
          </a:p>
          <a:p>
            <a:pPr marL="182880" indent="-182880" algn="l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/>
              </a:rPr>
              <a:t>Zero-bias DTM: mean error near 0m (no systematic vertical drift)</a:t>
            </a:r>
          </a:p>
        </p:txBody>
      </p:sp>
      <p:sp>
        <p:nvSpPr>
          <p:cNvPr id="205" name="S205">
            <a:extLst>
              <a:ext uri="{FF2B5EF4-FFF2-40B4-BE49-F238E27FC236}">
                <a16:creationId xmlns:a16="http://schemas.microsoft.com/office/drawing/2014/main" id="{C82E79D1-FF8C-1059-EA55-084E3EB71E03}"/>
              </a:ext>
            </a:extLst>
          </p:cNvPr>
          <p:cNvSpPr txBox="1"/>
          <p:nvPr/>
        </p:nvSpPr>
        <p:spPr>
          <a:xfrm>
            <a:off x="228600" y="4114800"/>
            <a:ext cx="8686800" cy="347472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Calibri"/>
              </a:rPr>
              <a:t>4 Villages Processed  │  2,851 Drainage Channels  │  135 km Total Length  │  Processing: 28–57 sec/village</a:t>
            </a:r>
          </a:p>
        </p:txBody>
      </p:sp>
    </p:spTree>
    <p:extLst>
      <p:ext uri="{BB962C8B-B14F-4D97-AF65-F5344CB8AC3E}">
        <p14:creationId xmlns:p14="http://schemas.microsoft.com/office/powerpoint/2010/main" val="4021267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"/>
          <p:cNvSpPr txBox="1">
            <a:spLocks noGrp="1"/>
          </p:cNvSpPr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Architecture / Workflow</a:t>
            </a:r>
            <a:endParaRPr sz="3000" b="1"/>
          </a:p>
        </p:txBody>
      </p:sp>
      <p:sp>
        <p:nvSpPr>
          <p:cNvPr id="84" name="Google Shape;84;p3"/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0" name="S300"/>
          <p:cNvSpPr txBox="1"/>
          <p:nvPr/>
        </p:nvSpPr>
        <p:spPr>
          <a:xfrm>
            <a:off x="201168" y="84124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6 automated stages: LAS/LAZ → classify → DTM → hydrology → waterlogging → costed drainage</a:t>
            </a:r>
          </a:p>
        </p:txBody>
      </p:sp>
      <p:sp>
        <p:nvSpPr>
          <p:cNvPr id="311" name="S311"/>
          <p:cNvSpPr txBox="1"/>
          <p:nvPr/>
        </p:nvSpPr>
        <p:spPr>
          <a:xfrm>
            <a:off x="201168" y="1170432"/>
            <a:ext cx="3520440" cy="25603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1  Inspect</a:t>
            </a:r>
          </a:p>
        </p:txBody>
      </p:sp>
      <p:sp>
        <p:nvSpPr>
          <p:cNvPr id="312" name="S312"/>
          <p:cNvSpPr txBox="1"/>
          <p:nvPr/>
        </p:nvSpPr>
        <p:spPr>
          <a:xfrm>
            <a:off x="201168" y="1426464"/>
            <a:ext cx="3520440" cy="292608"/>
          </a:xfrm>
          <a:prstGeom prst="rect">
            <a:avLst/>
          </a:prstGeom>
          <a:solidFill>
            <a:srgbClr val="EAF0F6"/>
          </a:solidFill>
          <a:ln w="19050">
            <a:solidFill>
              <a:srgbClr val="1B3A5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1A1A2E"/>
                </a:solidFill>
                <a:latin typeface="Calibri"/>
              </a:rPr>
              <a:t>LAS/LAZ header scan · CRS detection · auto-tiling for 50M+ pt files</a:t>
            </a:r>
          </a:p>
        </p:txBody>
      </p:sp>
      <p:sp>
        <p:nvSpPr>
          <p:cNvPr id="315" name="S315"/>
          <p:cNvSpPr txBox="1"/>
          <p:nvPr/>
        </p:nvSpPr>
        <p:spPr>
          <a:xfrm>
            <a:off x="201168" y="1746504"/>
            <a:ext cx="3520440" cy="256032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2  Ground Class.</a:t>
            </a:r>
          </a:p>
        </p:txBody>
      </p:sp>
      <p:sp>
        <p:nvSpPr>
          <p:cNvPr id="316" name="S316"/>
          <p:cNvSpPr txBox="1"/>
          <p:nvPr/>
        </p:nvSpPr>
        <p:spPr>
          <a:xfrm>
            <a:off x="201168" y="2002536"/>
            <a:ext cx="3520440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17777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 dirty="0">
                <a:solidFill>
                  <a:srgbClr val="1A1A2E"/>
                </a:solidFill>
                <a:latin typeface="Calibri"/>
              </a:rPr>
              <a:t>SMRF filter + RF refinement on 12 geometric features · CSF fallback</a:t>
            </a:r>
          </a:p>
        </p:txBody>
      </p:sp>
      <p:sp>
        <p:nvSpPr>
          <p:cNvPr id="319" name="S319"/>
          <p:cNvSpPr txBox="1"/>
          <p:nvPr/>
        </p:nvSpPr>
        <p:spPr>
          <a:xfrm>
            <a:off x="201168" y="2277483"/>
            <a:ext cx="3520440" cy="346218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Calibri"/>
              </a:rPr>
              <a:t>3  </a:t>
            </a:r>
            <a:r>
              <a:rPr lang="en-US" sz="1050" b="1">
                <a:solidFill>
                  <a:srgbClr val="FFFFFF"/>
                </a:solidFill>
                <a:latin typeface="Calibri"/>
              </a:rPr>
              <a:t>DTM Generation</a:t>
            </a:r>
          </a:p>
        </p:txBody>
      </p:sp>
      <p:sp>
        <p:nvSpPr>
          <p:cNvPr id="320" name="S320"/>
          <p:cNvSpPr txBox="1"/>
          <p:nvPr/>
        </p:nvSpPr>
        <p:spPr>
          <a:xfrm>
            <a:off x="201168" y="2578608"/>
            <a:ext cx="3520440" cy="292608"/>
          </a:xfrm>
          <a:prstGeom prst="rect">
            <a:avLst/>
          </a:prstGeom>
          <a:solidFill>
            <a:srgbClr val="EAF0F6"/>
          </a:solidFill>
          <a:ln w="19050">
            <a:solidFill>
              <a:srgbClr val="85200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 dirty="0">
                <a:solidFill>
                  <a:srgbClr val="1A1A2E"/>
                </a:solidFill>
                <a:latin typeface="Calibri"/>
              </a:rPr>
              <a:t>IDW </a:t>
            </a:r>
            <a:r>
              <a:rPr lang="en-US" sz="870" dirty="0" err="1">
                <a:solidFill>
                  <a:srgbClr val="1A1A2E"/>
                </a:solidFill>
                <a:latin typeface="Calibri"/>
              </a:rPr>
              <a:t>cKDTree</a:t>
            </a:r>
            <a:r>
              <a:rPr lang="en-US" sz="870" dirty="0">
                <a:solidFill>
                  <a:srgbClr val="1A1A2E"/>
                </a:solidFill>
                <a:latin typeface="Calibri"/>
              </a:rPr>
              <a:t> k=16 · 0.5 m Cloud-Optimized </a:t>
            </a:r>
            <a:r>
              <a:rPr lang="en-US" sz="870" dirty="0" err="1">
                <a:solidFill>
                  <a:srgbClr val="1A1A2E"/>
                </a:solidFill>
                <a:latin typeface="Calibri"/>
              </a:rPr>
              <a:t>GeoTIFF</a:t>
            </a:r>
            <a:r>
              <a:rPr lang="en-US" sz="870" dirty="0">
                <a:solidFill>
                  <a:srgbClr val="1A1A2E"/>
                </a:solidFill>
                <a:latin typeface="Calibri"/>
              </a:rPr>
              <a:t> · 8 terrain derivatives</a:t>
            </a:r>
          </a:p>
        </p:txBody>
      </p:sp>
      <p:sp>
        <p:nvSpPr>
          <p:cNvPr id="323" name="S323"/>
          <p:cNvSpPr txBox="1"/>
          <p:nvPr/>
        </p:nvSpPr>
        <p:spPr>
          <a:xfrm>
            <a:off x="201168" y="2898648"/>
            <a:ext cx="3520440" cy="25603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4  Hydrology</a:t>
            </a:r>
          </a:p>
        </p:txBody>
      </p:sp>
      <p:sp>
        <p:nvSpPr>
          <p:cNvPr id="324" name="S324"/>
          <p:cNvSpPr txBox="1"/>
          <p:nvPr/>
        </p:nvSpPr>
        <p:spPr>
          <a:xfrm>
            <a:off x="201168" y="3154680"/>
            <a:ext cx="3520440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 dirty="0">
                <a:solidFill>
                  <a:srgbClr val="1A1A2E"/>
                </a:solidFill>
                <a:latin typeface="Calibri"/>
              </a:rPr>
              <a:t>Depression fill (Wang 2006) · D8 flow · TWI = ln(SCA / tanβ)</a:t>
            </a:r>
          </a:p>
        </p:txBody>
      </p:sp>
      <p:sp>
        <p:nvSpPr>
          <p:cNvPr id="327" name="S327"/>
          <p:cNvSpPr txBox="1"/>
          <p:nvPr/>
        </p:nvSpPr>
        <p:spPr>
          <a:xfrm>
            <a:off x="201168" y="3474720"/>
            <a:ext cx="3520440" cy="256032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5  Waterlogging</a:t>
            </a:r>
          </a:p>
        </p:txBody>
      </p:sp>
      <p:sp>
        <p:nvSpPr>
          <p:cNvPr id="328" name="S328"/>
          <p:cNvSpPr txBox="1"/>
          <p:nvPr/>
        </p:nvSpPr>
        <p:spPr>
          <a:xfrm>
            <a:off x="201168" y="3730752"/>
            <a:ext cx="3520440" cy="292608"/>
          </a:xfrm>
          <a:prstGeom prst="rect">
            <a:avLst/>
          </a:prstGeom>
          <a:solidFill>
            <a:srgbClr val="EAF0F6"/>
          </a:solidFill>
          <a:ln w="19050">
            <a:solidFill>
              <a:srgbClr val="117777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 dirty="0" err="1">
                <a:solidFill>
                  <a:srgbClr val="1A1A2E"/>
                </a:solidFill>
                <a:latin typeface="Calibri"/>
              </a:rPr>
              <a:t>XGBoost</a:t>
            </a:r>
            <a:r>
              <a:rPr lang="en-US" sz="870" dirty="0">
                <a:solidFill>
                  <a:srgbClr val="1A1A2E"/>
                </a:solidFill>
                <a:latin typeface="Calibri"/>
              </a:rPr>
              <a:t> AUC 0.999 · physics-derived labels · 5-fold leave-out CV</a:t>
            </a:r>
          </a:p>
        </p:txBody>
      </p:sp>
      <p:sp>
        <p:nvSpPr>
          <p:cNvPr id="331" name="S331"/>
          <p:cNvSpPr txBox="1"/>
          <p:nvPr/>
        </p:nvSpPr>
        <p:spPr>
          <a:xfrm>
            <a:off x="201168" y="4050792"/>
            <a:ext cx="3520440" cy="256032"/>
          </a:xfrm>
          <a:prstGeom prst="rect">
            <a:avLst/>
          </a:prstGeom>
          <a:solidFill>
            <a:srgbClr val="B94A00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6  Drainage</a:t>
            </a:r>
          </a:p>
        </p:txBody>
      </p:sp>
      <p:sp>
        <p:nvSpPr>
          <p:cNvPr id="332" name="S332"/>
          <p:cNvSpPr txBox="1"/>
          <p:nvPr/>
        </p:nvSpPr>
        <p:spPr>
          <a:xfrm>
            <a:off x="201168" y="4306824"/>
            <a:ext cx="3520440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B94A00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 dirty="0">
                <a:solidFill>
                  <a:srgbClr val="1A1A2E"/>
                </a:solidFill>
                <a:latin typeface="Calibri"/>
              </a:rPr>
              <a:t>MST routing · Manning’s trapezoid sizing → GPKG + INR cost per channel</a:t>
            </a:r>
          </a:p>
        </p:txBody>
      </p:sp>
      <p:sp>
        <p:nvSpPr>
          <p:cNvPr id="391" name="S391"/>
          <p:cNvSpPr txBox="1"/>
          <p:nvPr/>
        </p:nvSpPr>
        <p:spPr>
          <a:xfrm>
            <a:off x="3858768" y="4263126"/>
            <a:ext cx="4828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1B3A5C"/>
                </a:solidFill>
                <a:latin typeface="Calibri"/>
              </a:rPr>
              <a:t>Actual outputs — DEVDI village (76M pts · ASPRS RMSE 0.176 m)</a:t>
            </a:r>
          </a:p>
        </p:txBody>
      </p:sp>
      <p:pic>
        <p:nvPicPr>
          <p:cNvPr id="392" name="Picture 391" descr="terrain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080" y="1426464"/>
            <a:ext cx="4828032" cy="2660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 txBox="1">
            <a:spLocks noGrp="1"/>
          </p:cNvSpPr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&amp; Technical Approach</a:t>
            </a:r>
            <a:endParaRPr sz="3000" b="1"/>
          </a:p>
        </p:txBody>
      </p:sp>
      <p:sp>
        <p:nvSpPr>
          <p:cNvPr id="91" name="Google Shape;91;p4"/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0" name="S400"/>
          <p:cNvSpPr txBox="1"/>
          <p:nvPr/>
        </p:nvSpPr>
        <p:spPr>
          <a:xfrm>
            <a:off x="228600" y="84124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Stages 1–6: from raw point cloud to engineered drainage design</a:t>
            </a:r>
          </a:p>
        </p:txBody>
      </p:sp>
      <p:sp>
        <p:nvSpPr>
          <p:cNvPr id="401" name="S401"/>
          <p:cNvSpPr txBox="1"/>
          <p:nvPr/>
        </p:nvSpPr>
        <p:spPr>
          <a:xfrm>
            <a:off x="228600" y="1143000"/>
            <a:ext cx="2679192" cy="33832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Ground Classification</a:t>
            </a:r>
          </a:p>
        </p:txBody>
      </p:sp>
      <p:sp>
        <p:nvSpPr>
          <p:cNvPr id="402" name="S402"/>
          <p:cNvSpPr txBox="1"/>
          <p:nvPr/>
        </p:nvSpPr>
        <p:spPr>
          <a:xfrm>
            <a:off x="228600" y="1481328"/>
            <a:ext cx="267919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164592" indent="-164592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/>
              </a:rPr>
              <a:t>SMRF morphological filter via PDAL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/>
              </a:rPr>
              <a:t>Slope=0.15, window=18m, </a:t>
            </a:r>
            <a:r>
              <a:rPr lang="en-US" sz="950" dirty="0" err="1">
                <a:solidFill>
                  <a:srgbClr val="1A1A2E"/>
                </a:solidFill>
                <a:latin typeface="Calibri"/>
              </a:rPr>
              <a:t>max_window</a:t>
            </a:r>
            <a:r>
              <a:rPr lang="en-US" sz="950" dirty="0">
                <a:solidFill>
                  <a:srgbClr val="1A1A2E"/>
                </a:solidFill>
                <a:latin typeface="Calibri"/>
              </a:rPr>
              <a:t>=33m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/>
              </a:rPr>
              <a:t>CSF cloth-simulation fallback (flat terrain)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/>
              </a:rPr>
              <a:t>Random Forest refinement on 12 geometric features:</a:t>
            </a:r>
          </a:p>
          <a:p>
            <a:pPr marL="320040" indent="0" algn="l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870" dirty="0">
                <a:solidFill>
                  <a:srgbClr val="5D6D7E"/>
                </a:solidFill>
                <a:latin typeface="Calibri"/>
              </a:rPr>
              <a:t>  Z-score, planarity, linearity, eigen-ratio, height above ground...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 dirty="0" err="1">
                <a:solidFill>
                  <a:srgbClr val="1A1A2E"/>
                </a:solidFill>
                <a:latin typeface="Calibri"/>
              </a:rPr>
              <a:t>PointNet</a:t>
            </a:r>
            <a:r>
              <a:rPr lang="en-US" sz="950" dirty="0">
                <a:solidFill>
                  <a:srgbClr val="1A1A2E"/>
                </a:solidFill>
                <a:latin typeface="Calibri"/>
              </a:rPr>
              <a:t> deep learning alternative (</a:t>
            </a:r>
            <a:r>
              <a:rPr lang="en-US" sz="950" dirty="0" err="1">
                <a:solidFill>
                  <a:srgbClr val="1A1A2E"/>
                </a:solidFill>
                <a:latin typeface="Calibri"/>
              </a:rPr>
              <a:t>PyTorch</a:t>
            </a:r>
            <a:r>
              <a:rPr lang="en-US" sz="950" dirty="0">
                <a:solidFill>
                  <a:srgbClr val="1A1A2E"/>
                </a:solidFill>
                <a:latin typeface="Calibri"/>
              </a:rPr>
              <a:t>)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 dirty="0">
                <a:solidFill>
                  <a:srgbClr val="1A1A2E"/>
                </a:solidFill>
                <a:latin typeface="Calibri"/>
              </a:rPr>
              <a:t>Result: </a:t>
            </a:r>
            <a:r>
              <a:rPr lang="en-US" sz="950" dirty="0" err="1">
                <a:solidFill>
                  <a:srgbClr val="1A1A2E"/>
                </a:solidFill>
                <a:latin typeface="Calibri"/>
              </a:rPr>
              <a:t>classified_ground.las</a:t>
            </a:r>
            <a:endParaRPr lang="en-US" sz="95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411" name="S411"/>
          <p:cNvSpPr txBox="1"/>
          <p:nvPr/>
        </p:nvSpPr>
        <p:spPr>
          <a:xfrm>
            <a:off x="3044952" y="1143000"/>
            <a:ext cx="2679192" cy="338328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DTM Generation</a:t>
            </a:r>
          </a:p>
        </p:txBody>
      </p:sp>
      <p:sp>
        <p:nvSpPr>
          <p:cNvPr id="412" name="S412"/>
          <p:cNvSpPr txBox="1"/>
          <p:nvPr/>
        </p:nvSpPr>
        <p:spPr>
          <a:xfrm>
            <a:off x="3044952" y="1481328"/>
            <a:ext cx="267919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7777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164592" indent="-164592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IDW interpolation with vectorised cKDTree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k=16 neighbors, power=2, batch-parallel workers=-1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Resolution: 0.5m Cloud-Optimized GeoTIFF (COG)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40× speedup over naive Python loops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Gaussian smoothing (σ=0.8) to reduce LiDAR noise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8 terrain derivatives computed:</a:t>
            </a:r>
          </a:p>
          <a:p>
            <a:pPr marL="320040" indent="0" algn="l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5D6D7E"/>
                </a:solidFill>
                <a:latin typeface="Calibri"/>
              </a:rPr>
              <a:t>  Slope · Aspect · TPI · Curvature · Roughness · Hillshade · TWI</a:t>
            </a:r>
          </a:p>
        </p:txBody>
      </p:sp>
      <p:sp>
        <p:nvSpPr>
          <p:cNvPr id="421" name="S421"/>
          <p:cNvSpPr txBox="1"/>
          <p:nvPr/>
        </p:nvSpPr>
        <p:spPr>
          <a:xfrm>
            <a:off x="5861304" y="1143000"/>
            <a:ext cx="2679192" cy="338328"/>
          </a:xfrm>
          <a:prstGeom prst="rect">
            <a:avLst/>
          </a:prstGeom>
          <a:solidFill>
            <a:srgbClr val="B94A00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Hydrology + Drainage</a:t>
            </a:r>
          </a:p>
        </p:txBody>
      </p:sp>
      <p:sp>
        <p:nvSpPr>
          <p:cNvPr id="422" name="S422"/>
          <p:cNvSpPr txBox="1"/>
          <p:nvPr/>
        </p:nvSpPr>
        <p:spPr>
          <a:xfrm>
            <a:off x="5861304" y="1481328"/>
            <a:ext cx="267919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B94A00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marL="164592" indent="-164592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Depression fill: Wang &amp; Liu 2006 (pysheds)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D8 steepest-descent flow direction + accumulation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TWI = ln(Specific Catchment Area / tanβ)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Stream extraction via DFS topology O(N)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XGBoost on 10 terrain features (ROC-AUC 0.999)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MST channel routing (Kruskal’s algorithm, networkx)</a:t>
            </a:r>
          </a:p>
          <a:p>
            <a:pPr marL="164592" indent="-164592" algn="l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Manning’s trapezoidal channel sizing + cost → GPKG</a:t>
            </a:r>
          </a:p>
        </p:txBody>
      </p:sp>
      <p:sp>
        <p:nvSpPr>
          <p:cNvPr id="430" name="S430"/>
          <p:cNvSpPr txBox="1"/>
          <p:nvPr/>
        </p:nvSpPr>
        <p:spPr>
          <a:xfrm>
            <a:off x="228600" y="3611880"/>
            <a:ext cx="8686800" cy="33832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</a:rPr>
              <a:t>Design Parameters (10-Year Return Period)</a:t>
            </a:r>
          </a:p>
        </p:txBody>
      </p:sp>
      <p:sp>
        <p:nvSpPr>
          <p:cNvPr id="431" name="S431"/>
          <p:cNvSpPr txBox="1"/>
          <p:nvPr/>
        </p:nvSpPr>
        <p:spPr>
          <a:xfrm>
            <a:off x="228600" y="3950208"/>
            <a:ext cx="5166360" cy="777240"/>
          </a:xfrm>
          <a:prstGeom prst="rect">
            <a:avLst/>
          </a:prstGeom>
          <a:solidFill>
            <a:srgbClr val="EAF0F6"/>
          </a:solidFill>
          <a:ln w="19050">
            <a:solidFill>
              <a:srgbClr val="1B3A5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Char char="▸"/>
            </a:pPr>
            <a:r>
              <a:rPr lang="en-US" sz="1000" dirty="0">
                <a:solidFill>
                  <a:srgbClr val="1A1A2E"/>
                </a:solidFill>
                <a:latin typeface="Calibri"/>
              </a:rPr>
              <a:t>Manning’s n = 0.025  │  Side slope 1.5H:1V  │  Rainfall </a:t>
            </a:r>
            <a:r>
              <a:rPr lang="en-US" sz="1000" dirty="0" err="1">
                <a:solidFill>
                  <a:srgbClr val="1A1A2E"/>
                </a:solidFill>
                <a:latin typeface="Calibri"/>
              </a:rPr>
              <a:t>i</a:t>
            </a:r>
            <a:r>
              <a:rPr lang="en-US" sz="1000" dirty="0">
                <a:solidFill>
                  <a:srgbClr val="1A1A2E"/>
                </a:solidFill>
                <a:latin typeface="Calibri"/>
              </a:rPr>
              <a:t> = 50 mm/</a:t>
            </a:r>
            <a:r>
              <a:rPr lang="en-US" sz="1000" dirty="0" err="1">
                <a:solidFill>
                  <a:srgbClr val="1A1A2E"/>
                </a:solidFill>
                <a:latin typeface="Calibri"/>
              </a:rPr>
              <a:t>hr</a:t>
            </a:r>
            <a:r>
              <a:rPr lang="en-US" sz="1000" dirty="0">
                <a:solidFill>
                  <a:srgbClr val="1A1A2E"/>
                </a:solidFill>
                <a:latin typeface="Calibri"/>
              </a:rPr>
              <a:t>  │  C = 0.65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Char char="▸"/>
            </a:pPr>
            <a:r>
              <a:rPr lang="en-US" sz="1000" dirty="0">
                <a:solidFill>
                  <a:srgbClr val="1A1A2E"/>
                </a:solidFill>
                <a:latin typeface="Calibri"/>
              </a:rPr>
              <a:t>Velocity: 0.30 m/s (min) ≤ V ≤ 2.00 m/s (max)  │  Cost model: CPWD DSR 2023-24 depth-banded (avg ₹231–267/m incl. 12% GST)</a:t>
            </a:r>
          </a:p>
        </p:txBody>
      </p:sp>
      <p:sp>
        <p:nvSpPr>
          <p:cNvPr id="432" name="S432"/>
          <p:cNvSpPr txBox="1"/>
          <p:nvPr/>
        </p:nvSpPr>
        <p:spPr>
          <a:xfrm>
            <a:off x="5577840" y="3611880"/>
            <a:ext cx="3337560" cy="338328"/>
          </a:xfrm>
          <a:prstGeom prst="rect">
            <a:avLst/>
          </a:prstGeom>
          <a:solidFill>
            <a:srgbClr val="EAF0F6"/>
          </a:solidFill>
          <a:ln w="19050">
            <a:solidFill>
              <a:srgbClr val="117777"/>
            </a:solidFill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17777"/>
                </a:solidFill>
                <a:latin typeface="Calibri"/>
              </a:rPr>
              <a:t>XGBoost Feature Importance</a:t>
            </a:r>
          </a:p>
        </p:txBody>
      </p:sp>
      <p:pic>
        <p:nvPicPr>
          <p:cNvPr id="433" name="Picture 432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035" y="3611880"/>
            <a:ext cx="2022945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"/>
          <p:cNvSpPr txBox="1">
            <a:spLocks noGrp="1"/>
          </p:cNvSpPr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 &amp; Demonstration</a:t>
            </a:r>
            <a:endParaRPr sz="3000" b="1"/>
          </a:p>
        </p:txBody>
      </p:sp>
      <p:sp>
        <p:nvSpPr>
          <p:cNvPr id="98" name="Google Shape;98;p5"/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0" name="S500"/>
          <p:cNvSpPr txBox="1"/>
          <p:nvPr/>
        </p:nvSpPr>
        <p:spPr>
          <a:xfrm>
            <a:off x="228600" y="84124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DTM vertical accuracy — ASPRS leave-out CV vs withheld LiDAR ground returns</a:t>
            </a:r>
          </a:p>
        </p:txBody>
      </p:sp>
      <p:sp>
        <p:nvSpPr>
          <p:cNvPr id="501" name="S501"/>
          <p:cNvSpPr txBox="1"/>
          <p:nvPr/>
        </p:nvSpPr>
        <p:spPr>
          <a:xfrm>
            <a:off x="228600" y="1143000"/>
            <a:ext cx="8686800" cy="33832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</a:rPr>
              <a:t>DTM Vertical Accuracy  (leave-out CV vs withheld LiDAR ground returns)</a:t>
            </a:r>
          </a:p>
        </p:txBody>
      </p:sp>
      <p:sp>
        <p:nvSpPr>
          <p:cNvPr id="502" name="S502"/>
          <p:cNvSpPr txBox="1"/>
          <p:nvPr/>
        </p:nvSpPr>
        <p:spPr>
          <a:xfrm>
            <a:off x="228600" y="1481328"/>
            <a:ext cx="8686800" cy="274320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>
                <a:solidFill>
                  <a:srgbClr val="FFFFFF"/>
                </a:solidFill>
                <a:latin typeface="Calibri"/>
              </a:rPr>
              <a:t>Village         State      Points    Ground%   RMSE (m)  MAE (m)   LE90 (m)  Time</a:t>
            </a:r>
          </a:p>
        </p:txBody>
      </p:sp>
      <p:sp>
        <p:nvSpPr>
          <p:cNvPr id="503" name="S503"/>
          <p:cNvSpPr txBox="1"/>
          <p:nvPr/>
        </p:nvSpPr>
        <p:spPr>
          <a:xfrm>
            <a:off x="228600" y="1755648"/>
            <a:ext cx="8686800" cy="24688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A1A2E"/>
                </a:solidFill>
                <a:latin typeface="Calibri"/>
              </a:rPr>
              <a:t>Devdi              Gujarat  76.1M     65.2%     0.176     0.091     0.235     57.1s</a:t>
            </a:r>
          </a:p>
        </p:txBody>
      </p:sp>
      <p:sp>
        <p:nvSpPr>
          <p:cNvPr id="504" name="S504"/>
          <p:cNvSpPr txBox="1"/>
          <p:nvPr/>
        </p:nvSpPr>
        <p:spPr>
          <a:xfrm>
            <a:off x="228600" y="2002536"/>
            <a:ext cx="868680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dirty="0" err="1">
                <a:solidFill>
                  <a:srgbClr val="1A1A2E"/>
                </a:solidFill>
                <a:latin typeface="Calibri"/>
              </a:rPr>
              <a:t>Khapreta</a:t>
            </a:r>
            <a:r>
              <a:rPr lang="en-US" sz="950" dirty="0">
                <a:solidFill>
                  <a:srgbClr val="1A1A2E"/>
                </a:solidFill>
                <a:latin typeface="Calibri"/>
              </a:rPr>
              <a:t>           Gujarat  193.1M    76.8%     0.146     0.081     0.191     54.3s</a:t>
            </a:r>
          </a:p>
        </p:txBody>
      </p:sp>
      <p:sp>
        <p:nvSpPr>
          <p:cNvPr id="505" name="S505"/>
          <p:cNvSpPr txBox="1"/>
          <p:nvPr/>
        </p:nvSpPr>
        <p:spPr>
          <a:xfrm>
            <a:off x="228600" y="2249424"/>
            <a:ext cx="8686800" cy="24688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A1A2E"/>
                </a:solidFill>
                <a:latin typeface="Calibri"/>
              </a:rPr>
              <a:t>Dhal Hoshiarpur    Punjab   35.0M     82.2%     0.097     0.055     0.129     32.2s</a:t>
            </a:r>
          </a:p>
        </p:txBody>
      </p:sp>
      <p:sp>
        <p:nvSpPr>
          <p:cNvPr id="506" name="S506"/>
          <p:cNvSpPr txBox="1"/>
          <p:nvPr/>
        </p:nvSpPr>
        <p:spPr>
          <a:xfrm>
            <a:off x="228600" y="2496312"/>
            <a:ext cx="868680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A1A2E"/>
                </a:solidFill>
                <a:latin typeface="Calibri"/>
              </a:rPr>
              <a:t>Chakhirasingh      Punjab   9.8M      56.6%     0.254     0.158     0.385     28.2s</a:t>
            </a:r>
          </a:p>
        </p:txBody>
      </p:sp>
      <p:sp>
        <p:nvSpPr>
          <p:cNvPr id="530" name="S530"/>
          <p:cNvSpPr txBox="1"/>
          <p:nvPr/>
        </p:nvSpPr>
        <p:spPr>
          <a:xfrm>
            <a:off x="228600" y="4161147"/>
            <a:ext cx="8686800" cy="346218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Calibri"/>
              </a:rPr>
              <a:t>TOTAL: 2,851 channels  │  135 km drainage  │  ₹327 Lakhs (CPWD DSR 2023-24)  │  100% stream coverage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228600" y="2926080"/>
            <a:ext cx="2788920" cy="3657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88900" tIns="50800" rIns="88900" bIns="508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0.5 m COG DTM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228600" y="3291840"/>
            <a:ext cx="2788920" cy="713232"/>
          </a:xfrm>
          <a:prstGeom prst="rect">
            <a:avLst/>
          </a:prstGeom>
          <a:solidFill>
            <a:srgbClr val="EAF0F6"/>
          </a:solidFill>
          <a:ln w="15240">
            <a:solidFill>
              <a:srgbClr val="1B3A5C"/>
            </a:solidFill>
          </a:ln>
        </p:spPr>
        <p:txBody>
          <a:bodyPr wrap="square" lIns="88900" tIns="50800" rIns="88900" bIns="50800" anchor="t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Cloud-Optimized GeoTIFF · OGC-compliant · 8 terrain derivatives</a:t>
            </a:r>
          </a:p>
        </p:txBody>
      </p:sp>
      <p:sp>
        <p:nvSpPr>
          <p:cNvPr id="533" name="TextBox 532"/>
          <p:cNvSpPr txBox="1"/>
          <p:nvPr/>
        </p:nvSpPr>
        <p:spPr>
          <a:xfrm>
            <a:off x="3127248" y="2926080"/>
            <a:ext cx="2788920" cy="365760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88900" tIns="50800" rIns="88900" bIns="508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Zero vertical bias</a:t>
            </a:r>
          </a:p>
        </p:txBody>
      </p:sp>
      <p:sp>
        <p:nvSpPr>
          <p:cNvPr id="534" name="TextBox 533"/>
          <p:cNvSpPr txBox="1"/>
          <p:nvPr/>
        </p:nvSpPr>
        <p:spPr>
          <a:xfrm>
            <a:off x="3127248" y="3291840"/>
            <a:ext cx="2788920" cy="713232"/>
          </a:xfrm>
          <a:prstGeom prst="rect">
            <a:avLst/>
          </a:prstGeom>
          <a:solidFill>
            <a:srgbClr val="EAF0F6"/>
          </a:solidFill>
          <a:ln w="15240">
            <a:solidFill>
              <a:srgbClr val="117777"/>
            </a:solidFill>
          </a:ln>
        </p:spPr>
        <p:txBody>
          <a:bodyPr wrap="square" lIns="88900" tIns="50800" rIns="88900" bIns="50800" anchor="t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Mean error ≈ 0 m — no systematic drift across 4 villages</a:t>
            </a:r>
          </a:p>
        </p:txBody>
      </p:sp>
      <p:sp>
        <p:nvSpPr>
          <p:cNvPr id="535" name="TextBox 534"/>
          <p:cNvSpPr txBox="1"/>
          <p:nvPr/>
        </p:nvSpPr>
        <p:spPr>
          <a:xfrm>
            <a:off x="6025896" y="2926080"/>
            <a:ext cx="2788920" cy="365760"/>
          </a:xfrm>
          <a:prstGeom prst="rect">
            <a:avLst/>
          </a:prstGeom>
          <a:solidFill>
            <a:srgbClr val="B94A00"/>
          </a:solidFill>
          <a:ln>
            <a:noFill/>
          </a:ln>
        </p:spPr>
        <p:txBody>
          <a:bodyPr wrap="square" lIns="88900" tIns="50800" rIns="88900" bIns="5080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RMSE 0.10–0.25 m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6025896" y="3291840"/>
            <a:ext cx="2788920" cy="713232"/>
          </a:xfrm>
          <a:prstGeom prst="rect">
            <a:avLst/>
          </a:prstGeom>
          <a:solidFill>
            <a:srgbClr val="EAF0F6"/>
          </a:solidFill>
          <a:ln w="15240">
            <a:solidFill>
              <a:srgbClr val="B94A00"/>
            </a:solidFill>
          </a:ln>
        </p:spPr>
        <p:txBody>
          <a:bodyPr wrap="square" lIns="88900" tIns="50800" rIns="88900" bIns="50800" anchor="t">
            <a:spAutoFit/>
          </a:bodyPr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Scales with LiDAR point density, not algorithm quality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"/>
          <p:cNvSpPr txBox="1">
            <a:spLocks noGrp="1"/>
          </p:cNvSpPr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Waterlogging Risk — One Model, 4 Villages</a:t>
            </a:r>
            <a:endParaRPr sz="3000" b="1"/>
          </a:p>
        </p:txBody>
      </p:sp>
      <p:sp>
        <p:nvSpPr>
          <p:cNvPr id="98" name="Google Shape;98;p5"/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28600" y="841248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spAutoFit/>
          </a:bodyPr>
          <a:lstStyle/>
          <a:p>
            <a:pPr algn="ctr"/>
            <a:r>
              <a:rPr sz="1050" b="0">
                <a:solidFill>
                  <a:srgbClr val="5D6D7E"/>
                </a:solidFill>
                <a:latin typeface="Calibri"/>
              </a:rPr>
              <a:t>Same XGBoost model, zero retraining across Gujarat ↔ Punjab — physics-derived labels, no flood records needed</a:t>
            </a:r>
          </a:p>
        </p:txBody>
      </p:sp>
      <p:pic>
        <p:nvPicPr>
          <p:cNvPr id="100" name="Picture 99" descr="ris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623" y="1170432"/>
            <a:ext cx="3534312" cy="3456432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274320" y="4590288"/>
            <a:ext cx="5074920" cy="237744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spAutoFit/>
          </a:bodyPr>
          <a:lstStyle/>
          <a:p>
            <a:pPr algn="ctr"/>
            <a:r>
              <a:rPr sz="950" b="0">
                <a:solidFill>
                  <a:srgbClr val="5D6D7E"/>
                </a:solidFill>
                <a:latin typeface="Calibri"/>
              </a:rPr>
              <a:t>Red = high risk · model AUC 0.999 in every village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32120" y="1170432"/>
            <a:ext cx="3383280" cy="310896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88900" tIns="50800" rIns="88900" bIns="508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Model Accuracy (XGBoost, 5-fold CV)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32120" y="1481328"/>
            <a:ext cx="3383280" cy="1097280"/>
          </a:xfrm>
          <a:prstGeom prst="rect">
            <a:avLst/>
          </a:prstGeom>
          <a:solidFill>
            <a:srgbClr val="EAF0F6"/>
          </a:solidFill>
          <a:ln w="15240">
            <a:solidFill>
              <a:srgbClr val="117777"/>
            </a:solidFill>
          </a:ln>
        </p:spPr>
        <p:txBody>
          <a:bodyPr wrap="square" lIns="88900" tIns="50800" rIns="88900" bIns="50800" anchor="t">
            <a:spAutoFit/>
          </a:bodyPr>
          <a:lstStyle/>
          <a:p>
            <a:pPr algn="l"/>
            <a:r>
              <a:rPr sz="1000" b="1">
                <a:solidFill>
                  <a:srgbClr val="1B3A5C"/>
                </a:solidFill>
                <a:latin typeface="Calibri"/>
              </a:rPr>
              <a:t>Village        ROC-AUC   F1</a:t>
            </a:r>
          </a:p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Devdi       0.9993   0.906</a:t>
            </a:r>
          </a:p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Khapreta    0.9999   0.970</a:t>
            </a:r>
          </a:p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Dhal Hsp.   0.9994   0.902</a:t>
            </a:r>
          </a:p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Chakhira    0.9989   0.840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532120" y="2697480"/>
            <a:ext cx="3383280" cy="310896"/>
          </a:xfrm>
          <a:prstGeom prst="rect">
            <a:avLst/>
          </a:prstGeom>
          <a:solidFill>
            <a:srgbClr val="B94A00"/>
          </a:solidFill>
          <a:ln>
            <a:noFill/>
          </a:ln>
        </p:spPr>
        <p:txBody>
          <a:bodyPr wrap="square" lIns="88900" tIns="50800" rIns="88900" bIns="508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Cross-Village Transfer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532120" y="3008376"/>
            <a:ext cx="3383280" cy="786384"/>
          </a:xfrm>
          <a:prstGeom prst="rect">
            <a:avLst/>
          </a:prstGeom>
          <a:solidFill>
            <a:srgbClr val="EAF0F6"/>
          </a:solidFill>
          <a:ln w="15240">
            <a:solidFill>
              <a:srgbClr val="B94A00"/>
            </a:solidFill>
          </a:ln>
        </p:spPr>
        <p:txBody>
          <a:bodyPr wrap="square" lIns="88900" tIns="50800" rIns="88900" bIns="50800" anchor="t">
            <a:spAutoFit/>
          </a:bodyPr>
          <a:lstStyle/>
          <a:p>
            <a:pPr algn="ctr"/>
            <a:r>
              <a:rPr sz="1000" b="0">
                <a:solidFill>
                  <a:srgbClr val="5D6D7E"/>
                </a:solidFill>
                <a:latin typeface="Calibri"/>
              </a:rPr>
              <a:t>Train on village A → test on B</a:t>
            </a:r>
          </a:p>
          <a:p>
            <a:pPr algn="ctr"/>
            <a:r>
              <a:rPr sz="1250" b="1">
                <a:solidFill>
                  <a:srgbClr val="117777"/>
                </a:solidFill>
                <a:latin typeface="Calibri"/>
              </a:rPr>
              <a:t>Min AUC 0.989   ·   Max AUC 1.000</a:t>
            </a:r>
          </a:p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generalises without retraining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32120" y="3913632"/>
            <a:ext cx="3383280" cy="310896"/>
          </a:xfrm>
          <a:prstGeom prst="rect">
            <a:avLst/>
          </a:prstGeom>
          <a:solidFill>
            <a:srgbClr val="EAF0F6"/>
          </a:solidFill>
          <a:ln w="15240">
            <a:solidFill>
              <a:srgbClr val="1B3A5C"/>
            </a:solidFill>
          </a:ln>
        </p:spPr>
        <p:txBody>
          <a:bodyPr wrap="square" lIns="88900" tIns="50800" rIns="88900" bIns="50800" anchor="ctr">
            <a:spAutoFit/>
          </a:bodyPr>
          <a:lstStyle/>
          <a:p>
            <a:pPr algn="ctr"/>
            <a:r>
              <a:rPr sz="1050" b="1">
                <a:solidFill>
                  <a:srgbClr val="1B3A5C"/>
                </a:solidFill>
                <a:latin typeface="Calibri"/>
              </a:rPr>
              <a:t>Physics Check — TWI HIGH/LOW = 2.1–2.6×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"/>
          <p:cNvSpPr txBox="1">
            <a:spLocks noGrp="1"/>
          </p:cNvSpPr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Drainage Network — Costed &amp; Sized</a:t>
            </a:r>
            <a:endParaRPr sz="3000" b="1"/>
          </a:p>
        </p:txBody>
      </p:sp>
      <p:sp>
        <p:nvSpPr>
          <p:cNvPr id="98" name="Google Shape;98;p5"/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28600" y="841248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spAutoFit/>
          </a:bodyPr>
          <a:lstStyle/>
          <a:p>
            <a:pPr algn="ctr"/>
            <a:r>
              <a:rPr sz="1050" b="0" dirty="0">
                <a:solidFill>
                  <a:srgbClr val="5D6D7E"/>
                </a:solidFill>
                <a:latin typeface="Calibri"/>
              </a:rPr>
              <a:t>Flow-accumulation routing (MST) + Manning's trapezoidal sizing for a 10-year storm — every channel costed at CPWD DSR 2023-24 rates</a:t>
            </a:r>
          </a:p>
        </p:txBody>
      </p:sp>
      <p:pic>
        <p:nvPicPr>
          <p:cNvPr id="100" name="Picture 99" descr="result_DEV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02" y="1170432"/>
            <a:ext cx="4003074" cy="3456432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274320" y="4590288"/>
            <a:ext cx="4434840" cy="237744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spAutoFit/>
          </a:bodyPr>
          <a:lstStyle/>
          <a:p>
            <a:pPr algn="ctr"/>
            <a:r>
              <a:rPr sz="950" b="0">
                <a:solidFill>
                  <a:srgbClr val="5D6D7E"/>
                </a:solidFill>
                <a:latin typeface="Calibri"/>
              </a:rPr>
              <a:t>Devdi — high-risk zones (red) drained by sized channels (gold/cyan)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92040" y="1170432"/>
            <a:ext cx="4023360" cy="310896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88900" tIns="50800" rIns="88900" bIns="508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Costed Drainage Plan — 4 Villages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92040" y="1481328"/>
            <a:ext cx="4023360" cy="1395254"/>
          </a:xfrm>
          <a:prstGeom prst="rect">
            <a:avLst/>
          </a:prstGeom>
          <a:solidFill>
            <a:srgbClr val="EAF0F6"/>
          </a:solidFill>
          <a:ln w="15240">
            <a:solidFill>
              <a:srgbClr val="1B3A5C"/>
            </a:solidFill>
          </a:ln>
        </p:spPr>
        <p:txBody>
          <a:bodyPr wrap="square" lIns="88900" tIns="50800" rIns="88900" bIns="50800" anchor="t">
            <a:spAutoFit/>
          </a:bodyPr>
          <a:lstStyle/>
          <a:p>
            <a:pPr algn="l"/>
            <a:r>
              <a:rPr b="1" dirty="0">
                <a:solidFill>
                  <a:srgbClr val="1B3A5C"/>
                </a:solidFill>
                <a:latin typeface="Calibri"/>
              </a:rPr>
              <a:t>Village        Chan.   Length   Cost</a:t>
            </a:r>
          </a:p>
          <a:p>
            <a:pPr algn="l"/>
            <a:r>
              <a:rPr b="0" dirty="0" err="1">
                <a:solidFill>
                  <a:srgbClr val="1A1A2E"/>
                </a:solidFill>
                <a:latin typeface="Calibri"/>
              </a:rPr>
              <a:t>Devdi</a:t>
            </a:r>
            <a:r>
              <a:rPr b="0" dirty="0">
                <a:solidFill>
                  <a:srgbClr val="1A1A2E"/>
                </a:solidFill>
                <a:latin typeface="Calibri"/>
              </a:rPr>
              <a:t>         966    54.1 km  ₹  128L</a:t>
            </a:r>
          </a:p>
          <a:p>
            <a:pPr algn="l"/>
            <a:r>
              <a:rPr b="0" dirty="0" err="1">
                <a:solidFill>
                  <a:srgbClr val="1A1A2E"/>
                </a:solidFill>
                <a:latin typeface="Calibri"/>
              </a:rPr>
              <a:t>Khapreta</a:t>
            </a:r>
            <a:r>
              <a:rPr b="0" dirty="0">
                <a:solidFill>
                  <a:srgbClr val="1A1A2E"/>
                </a:solidFill>
                <a:latin typeface="Calibri"/>
              </a:rPr>
              <a:t>      575    27.8 km  ₹   74L</a:t>
            </a:r>
          </a:p>
          <a:p>
            <a:pPr algn="l"/>
            <a:r>
              <a:rPr b="0" dirty="0">
                <a:solidFill>
                  <a:srgbClr val="1A1A2E"/>
                </a:solidFill>
                <a:latin typeface="Calibri"/>
              </a:rPr>
              <a:t>Dhal </a:t>
            </a:r>
            <a:r>
              <a:rPr b="0" dirty="0" err="1">
                <a:solidFill>
                  <a:srgbClr val="1A1A2E"/>
                </a:solidFill>
                <a:latin typeface="Calibri"/>
              </a:rPr>
              <a:t>Hsp</a:t>
            </a:r>
            <a:r>
              <a:rPr b="0" dirty="0">
                <a:solidFill>
                  <a:srgbClr val="1A1A2E"/>
                </a:solidFill>
                <a:latin typeface="Calibri"/>
              </a:rPr>
              <a:t>.     297     9.8 km  ₹   24L</a:t>
            </a:r>
          </a:p>
          <a:p>
            <a:pPr algn="l"/>
            <a:r>
              <a:rPr b="0" dirty="0" err="1">
                <a:solidFill>
                  <a:srgbClr val="1A1A2E"/>
                </a:solidFill>
                <a:latin typeface="Calibri"/>
              </a:rPr>
              <a:t>Chakhira</a:t>
            </a:r>
            <a:r>
              <a:rPr b="0" dirty="0">
                <a:solidFill>
                  <a:srgbClr val="1A1A2E"/>
                </a:solidFill>
                <a:latin typeface="Calibri"/>
              </a:rPr>
              <a:t>     1013    43.7 km  ₹  101L</a:t>
            </a:r>
          </a:p>
          <a:p>
            <a:pPr algn="l"/>
            <a:r>
              <a:rPr b="1" dirty="0">
                <a:solidFill>
                  <a:srgbClr val="85200C"/>
                </a:solidFill>
                <a:latin typeface="Calibri"/>
              </a:rPr>
              <a:t>TOTAL        2851     135 km  ₹  327L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92040" y="3017520"/>
            <a:ext cx="4023360" cy="310896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88900" tIns="50800" rIns="88900" bIns="508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Design Parameters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2040" y="3328416"/>
            <a:ext cx="4023360" cy="948978"/>
          </a:xfrm>
          <a:prstGeom prst="rect">
            <a:avLst/>
          </a:prstGeom>
          <a:solidFill>
            <a:srgbClr val="EAF0F6"/>
          </a:solidFill>
          <a:ln w="15240">
            <a:solidFill>
              <a:srgbClr val="117777"/>
            </a:solidFill>
          </a:ln>
        </p:spPr>
        <p:txBody>
          <a:bodyPr wrap="square" lIns="88900" tIns="50800" rIns="88900" bIns="50800" anchor="t">
            <a:spAutoFit/>
          </a:bodyPr>
          <a:lstStyle/>
          <a:p>
            <a:pPr algn="just"/>
            <a:r>
              <a:rPr sz="1100" b="0" dirty="0">
                <a:solidFill>
                  <a:srgbClr val="1A1A2E"/>
                </a:solidFill>
                <a:latin typeface="Calibri"/>
              </a:rPr>
              <a:t>Manning's n 0.025 · side slope 1.5H:1V · </a:t>
            </a:r>
            <a:r>
              <a:rPr sz="1100" b="0" dirty="0" err="1">
                <a:solidFill>
                  <a:srgbClr val="1A1A2E"/>
                </a:solidFill>
                <a:latin typeface="Calibri"/>
              </a:rPr>
              <a:t>i</a:t>
            </a:r>
            <a:r>
              <a:rPr sz="1100" b="0" dirty="0">
                <a:solidFill>
                  <a:srgbClr val="1A1A2E"/>
                </a:solidFill>
                <a:latin typeface="Calibri"/>
              </a:rPr>
              <a:t> = 50 mm/</a:t>
            </a:r>
            <a:r>
              <a:rPr sz="1100" b="0" dirty="0" err="1">
                <a:solidFill>
                  <a:srgbClr val="1A1A2E"/>
                </a:solidFill>
                <a:latin typeface="Calibri"/>
              </a:rPr>
              <a:t>hr</a:t>
            </a:r>
            <a:r>
              <a:rPr sz="1100" b="0" dirty="0">
                <a:solidFill>
                  <a:srgbClr val="1A1A2E"/>
                </a:solidFill>
                <a:latin typeface="Calibri"/>
              </a:rPr>
              <a:t> · C = 0.65</a:t>
            </a:r>
          </a:p>
          <a:p>
            <a:pPr algn="just"/>
            <a:r>
              <a:rPr sz="1100" b="0" dirty="0">
                <a:solidFill>
                  <a:srgbClr val="1A1A2E"/>
                </a:solidFill>
                <a:latin typeface="Calibri"/>
              </a:rPr>
              <a:t>Velocity 0.30–2.00 m/s · concrete lining only where flow is fast</a:t>
            </a:r>
          </a:p>
          <a:p>
            <a:pPr algn="just"/>
            <a:r>
              <a:rPr sz="1100" b="0" dirty="0">
                <a:solidFill>
                  <a:srgbClr val="1A1A2E"/>
                </a:solidFill>
                <a:latin typeface="Calibri"/>
              </a:rPr>
              <a:t>Cost: CPWD DSR 2023-24 depth-banded, avg ₹231–267/m incl. 12% GST</a:t>
            </a:r>
          </a:p>
          <a:p>
            <a:pPr algn="just"/>
            <a:r>
              <a:rPr sz="1100" b="1" dirty="0">
                <a:solidFill>
                  <a:srgbClr val="117777"/>
                </a:solidFill>
                <a:latin typeface="Calibri"/>
              </a:rPr>
              <a:t>0 capacity exceedances · 100% stream coverage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/>
          <p:cNvSpPr txBox="1">
            <a:spLocks noGrp="1"/>
          </p:cNvSpPr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Innovation &amp; Key Learnings</a:t>
            </a:r>
            <a:endParaRPr sz="3000" b="1"/>
          </a:p>
        </p:txBody>
      </p:sp>
      <p:sp>
        <p:nvSpPr>
          <p:cNvPr id="105" name="Google Shape;105;p6"/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01" name="S601"/>
          <p:cNvSpPr txBox="1"/>
          <p:nvPr/>
        </p:nvSpPr>
        <p:spPr>
          <a:xfrm>
            <a:off x="228600" y="1143000"/>
            <a:ext cx="4160520" cy="33832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</a:rPr>
              <a:t>Innovations</a:t>
            </a:r>
          </a:p>
        </p:txBody>
      </p:sp>
      <p:sp>
        <p:nvSpPr>
          <p:cNvPr id="602" name="S602"/>
          <p:cNvSpPr txBox="1"/>
          <p:nvPr/>
        </p:nvSpPr>
        <p:spPr>
          <a:xfrm>
            <a:off x="228600" y="1481328"/>
            <a:ext cx="4160520" cy="6583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B3A5C"/>
                </a:solidFill>
                <a:latin typeface="Calibri"/>
              </a:rPr>
              <a:t>1.  </a:t>
            </a:r>
            <a:r>
              <a:rPr lang="en-US" sz="1100" b="1" dirty="0" err="1">
                <a:solidFill>
                  <a:srgbClr val="1B3A5C"/>
                </a:solidFill>
                <a:latin typeface="Calibri"/>
              </a:rPr>
              <a:t>Vectorised</a:t>
            </a:r>
            <a:r>
              <a:rPr lang="en-US" sz="1100" b="1" dirty="0">
                <a:solidFill>
                  <a:srgbClr val="1B3A5C"/>
                </a:solidFill>
                <a:latin typeface="Calibri"/>
              </a:rPr>
              <a:t> IDW Interpolation</a:t>
            </a:r>
          </a:p>
          <a:p>
            <a:pPr marL="228600" indent="0" algn="l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 dirty="0" err="1">
                <a:solidFill>
                  <a:srgbClr val="1A1A2E"/>
                </a:solidFill>
                <a:latin typeface="Calibri"/>
              </a:rPr>
              <a:t>cKDTree</a:t>
            </a:r>
            <a:r>
              <a:rPr lang="en-US" sz="980" dirty="0">
                <a:solidFill>
                  <a:srgbClr val="1A1A2E"/>
                </a:solidFill>
                <a:latin typeface="Calibri"/>
              </a:rPr>
              <a:t> batch-query + NumPy weight computation: 40× speedup, 4M-cell grid in ~10s on CPU.</a:t>
            </a:r>
          </a:p>
        </p:txBody>
      </p:sp>
      <p:sp>
        <p:nvSpPr>
          <p:cNvPr id="603" name="S603"/>
          <p:cNvSpPr txBox="1"/>
          <p:nvPr/>
        </p:nvSpPr>
        <p:spPr>
          <a:xfrm>
            <a:off x="228600" y="2139696"/>
            <a:ext cx="41605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B3A5C"/>
                </a:solidFill>
                <a:latin typeface="Calibri"/>
              </a:rPr>
              <a:t>2.  Physically-Grounded Waterlogging Labels</a:t>
            </a:r>
          </a:p>
          <a:p>
            <a:pPr marL="228600" indent="0" algn="l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 dirty="0">
                <a:solidFill>
                  <a:srgbClr val="1A1A2E"/>
                </a:solidFill>
                <a:latin typeface="Calibri"/>
              </a:rPr>
              <a:t>No flood records exist — gold-standard labels derived from terrain physics (TWI, depression, curvature).</a:t>
            </a:r>
          </a:p>
        </p:txBody>
      </p:sp>
      <p:sp>
        <p:nvSpPr>
          <p:cNvPr id="604" name="S604"/>
          <p:cNvSpPr txBox="1"/>
          <p:nvPr/>
        </p:nvSpPr>
        <p:spPr>
          <a:xfrm>
            <a:off x="228600" y="2798064"/>
            <a:ext cx="4160520" cy="66835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B3A5C"/>
                </a:solidFill>
                <a:latin typeface="Calibri"/>
              </a:rPr>
              <a:t>3.  Cross-Village Transfer Learning</a:t>
            </a:r>
          </a:p>
          <a:p>
            <a:pPr marL="228600" indent="0" algn="l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 dirty="0" err="1">
                <a:solidFill>
                  <a:srgbClr val="1A1A2E"/>
                </a:solidFill>
                <a:latin typeface="Calibri"/>
              </a:rPr>
              <a:t>XGBoost</a:t>
            </a:r>
            <a:r>
              <a:rPr lang="en-US" sz="980" dirty="0">
                <a:solidFill>
                  <a:srgbClr val="1A1A2E"/>
                </a:solidFill>
                <a:latin typeface="Calibri"/>
              </a:rPr>
              <a:t> trained on one village → AUC 0.989–0.991 on unseen villages across state boundaries.</a:t>
            </a:r>
          </a:p>
        </p:txBody>
      </p:sp>
      <p:sp>
        <p:nvSpPr>
          <p:cNvPr id="605" name="S605"/>
          <p:cNvSpPr txBox="1"/>
          <p:nvPr/>
        </p:nvSpPr>
        <p:spPr>
          <a:xfrm>
            <a:off x="228600" y="3456432"/>
            <a:ext cx="4160520" cy="6683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B3A5C"/>
                </a:solidFill>
                <a:latin typeface="Calibri"/>
              </a:rPr>
              <a:t>4.  DTM Validation</a:t>
            </a:r>
          </a:p>
          <a:p>
            <a:pPr marL="228600" indent="0" algn="l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 dirty="0">
                <a:solidFill>
                  <a:srgbClr val="1A1A2E"/>
                </a:solidFill>
                <a:latin typeface="Calibri"/>
              </a:rPr>
              <a:t>Leave-out CV vs withheld LiDAR ground returns — RMSE/LE90 against real measured elevations.</a:t>
            </a:r>
          </a:p>
        </p:txBody>
      </p:sp>
      <p:sp>
        <p:nvSpPr>
          <p:cNvPr id="615" name="S615"/>
          <p:cNvSpPr txBox="1"/>
          <p:nvPr/>
        </p:nvSpPr>
        <p:spPr>
          <a:xfrm>
            <a:off x="4572000" y="1143000"/>
            <a:ext cx="4069080" cy="338328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</a:rPr>
              <a:t>Key Learnings</a:t>
            </a:r>
          </a:p>
        </p:txBody>
      </p:sp>
      <p:sp>
        <p:nvSpPr>
          <p:cNvPr id="616" name="S616"/>
          <p:cNvSpPr txBox="1"/>
          <p:nvPr/>
        </p:nvSpPr>
        <p:spPr>
          <a:xfrm>
            <a:off x="4572000" y="1481328"/>
            <a:ext cx="4069080" cy="6583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17777"/>
                </a:solidFill>
                <a:latin typeface="Calibri"/>
              </a:rPr>
              <a:t>1.  Validation must be domain-correct</a:t>
            </a:r>
          </a:p>
          <a:p>
            <a:pPr marL="228600" indent="0" algn="l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 dirty="0">
                <a:solidFill>
                  <a:srgbClr val="1A1A2E"/>
                </a:solidFill>
                <a:latin typeface="Calibri"/>
              </a:rPr>
              <a:t>CV on the same data is NOT validation. Hold out real LiDAR returns and measure against them.</a:t>
            </a:r>
          </a:p>
        </p:txBody>
      </p:sp>
      <p:sp>
        <p:nvSpPr>
          <p:cNvPr id="617" name="S617"/>
          <p:cNvSpPr txBox="1"/>
          <p:nvPr/>
        </p:nvSpPr>
        <p:spPr>
          <a:xfrm>
            <a:off x="4572000" y="2139696"/>
            <a:ext cx="4069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17777"/>
                </a:solidFill>
                <a:latin typeface="Calibri"/>
              </a:rPr>
              <a:t>2.  Terrain features transfer, thresholds don’t</a:t>
            </a:r>
          </a:p>
          <a:p>
            <a:pPr marL="228600" indent="0" algn="l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 dirty="0" err="1">
                <a:solidFill>
                  <a:srgbClr val="1A1A2E"/>
                </a:solidFill>
                <a:latin typeface="Calibri"/>
              </a:rPr>
              <a:t>XGBoost</a:t>
            </a:r>
            <a:r>
              <a:rPr lang="en-US" sz="980" dirty="0">
                <a:solidFill>
                  <a:srgbClr val="1A1A2E"/>
                </a:solidFill>
                <a:latin typeface="Calibri"/>
              </a:rPr>
              <a:t> learns universal physics of water-on-terrain — not village-specific </a:t>
            </a:r>
            <a:r>
              <a:rPr lang="en-US" sz="980" dirty="0" err="1">
                <a:solidFill>
                  <a:srgbClr val="1A1A2E"/>
                </a:solidFill>
                <a:latin typeface="Calibri"/>
              </a:rPr>
              <a:t>memorised</a:t>
            </a:r>
            <a:r>
              <a:rPr lang="en-US" sz="980" dirty="0">
                <a:solidFill>
                  <a:srgbClr val="1A1A2E"/>
                </a:solidFill>
                <a:latin typeface="Calibri"/>
              </a:rPr>
              <a:t> thresholds.</a:t>
            </a:r>
          </a:p>
        </p:txBody>
      </p:sp>
      <p:sp>
        <p:nvSpPr>
          <p:cNvPr id="618" name="S618"/>
          <p:cNvSpPr txBox="1"/>
          <p:nvPr/>
        </p:nvSpPr>
        <p:spPr>
          <a:xfrm>
            <a:off x="4572000" y="2798064"/>
            <a:ext cx="4069080" cy="6583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17777"/>
                </a:solidFill>
                <a:latin typeface="Calibri"/>
              </a:rPr>
              <a:t>3.  IDW &gt;&gt; Kriging at scale</a:t>
            </a:r>
          </a:p>
          <a:p>
            <a:pPr marL="228600" indent="0" algn="l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 dirty="0" err="1">
                <a:solidFill>
                  <a:srgbClr val="1A1A2E"/>
                </a:solidFill>
                <a:latin typeface="Calibri"/>
              </a:rPr>
              <a:t>Vectorised</a:t>
            </a:r>
            <a:r>
              <a:rPr lang="en-US" sz="980" dirty="0">
                <a:solidFill>
                  <a:srgbClr val="1A1A2E"/>
                </a:solidFill>
                <a:latin typeface="Calibri"/>
              </a:rPr>
              <a:t> IDW gives RMSE 0.10–0.25m at 40× less compute than Kriging for 50M+ point clouds.</a:t>
            </a:r>
          </a:p>
        </p:txBody>
      </p:sp>
      <p:sp>
        <p:nvSpPr>
          <p:cNvPr id="619" name="S619"/>
          <p:cNvSpPr txBox="1"/>
          <p:nvPr/>
        </p:nvSpPr>
        <p:spPr>
          <a:xfrm>
            <a:off x="4572000" y="3456432"/>
            <a:ext cx="4069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17777"/>
                </a:solidFill>
                <a:latin typeface="Calibri"/>
              </a:rPr>
              <a:t>4.  Catchment area drives drainage design</a:t>
            </a:r>
          </a:p>
          <a:p>
            <a:pPr marL="228600" indent="0" algn="l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Real flow-accumulation catchments (not length proxies) produce hydraulically consistent sizing.</a:t>
            </a:r>
          </a:p>
        </p:txBody>
      </p:sp>
      <p:sp>
        <p:nvSpPr>
          <p:cNvPr id="630" name="S630"/>
          <p:cNvSpPr txBox="1"/>
          <p:nvPr/>
        </p:nvSpPr>
        <p:spPr>
          <a:xfrm>
            <a:off x="228600" y="4142232"/>
            <a:ext cx="8686800" cy="520625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/>
              </a:rPr>
              <a:t>Future Work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alibri"/>
              </a:rPr>
              <a:t>(1) Cross-validate with NRSC National Waterlogging Atlas flood records   (2) Scale to all 10 SVAMITVA villages in one batch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>
          <a:extLst>
            <a:ext uri="{FF2B5EF4-FFF2-40B4-BE49-F238E27FC236}">
              <a16:creationId xmlns:a16="http://schemas.microsoft.com/office/drawing/2014/main" id="{9425EE00-94CE-9419-B152-286DDC822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35CF4-BB62-DA3D-67CF-325F33426C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1"/>
            <a:ext cx="9144000" cy="5143498"/>
          </a:xfrm>
          <a:prstGeom prst="rect">
            <a:avLst/>
          </a:prstGeom>
        </p:spPr>
      </p:pic>
      <p:sp>
        <p:nvSpPr>
          <p:cNvPr id="111" name="Google Shape;111;p7">
            <a:extLst>
              <a:ext uri="{FF2B5EF4-FFF2-40B4-BE49-F238E27FC236}">
                <a16:creationId xmlns:a16="http://schemas.microsoft.com/office/drawing/2014/main" id="{DD3FD8AF-44AD-3FA9-109E-411021FAF8B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18796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Q/A</a:t>
            </a:r>
            <a:endParaRPr sz="3000" b="1" dirty="0"/>
          </a:p>
        </p:txBody>
      </p:sp>
      <p:sp>
        <p:nvSpPr>
          <p:cNvPr id="112" name="Google Shape;112;p7">
            <a:extLst>
              <a:ext uri="{FF2B5EF4-FFF2-40B4-BE49-F238E27FC236}">
                <a16:creationId xmlns:a16="http://schemas.microsoft.com/office/drawing/2014/main" id="{7B21944A-DD69-7EF7-270A-26C85941342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</a:t>
            </a:r>
            <a:r>
              <a:rPr lang="en-GB" sz="1200" b="1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IITTNiF</a:t>
            </a:r>
            <a:endParaRPr sz="12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5921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>
          <a:extLst>
            <a:ext uri="{FF2B5EF4-FFF2-40B4-BE49-F238E27FC236}">
              <a16:creationId xmlns:a16="http://schemas.microsoft.com/office/drawing/2014/main" id="{8E49D260-BC8E-F7E3-D609-F2522D589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">
            <a:extLst>
              <a:ext uri="{FF2B5EF4-FFF2-40B4-BE49-F238E27FC236}">
                <a16:creationId xmlns:a16="http://schemas.microsoft.com/office/drawing/2014/main" id="{B4F5B0CE-C29D-A922-A54E-A47F1FCACD8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18796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lang="en-GB" sz="30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sz="3000" b="1"/>
          </a:p>
        </p:txBody>
      </p:sp>
      <p:sp>
        <p:nvSpPr>
          <p:cNvPr id="112" name="Google Shape;112;p7">
            <a:extLst>
              <a:ext uri="{FF2B5EF4-FFF2-40B4-BE49-F238E27FC236}">
                <a16:creationId xmlns:a16="http://schemas.microsoft.com/office/drawing/2014/main" id="{AB53BF1A-DD93-2AFA-6794-5216FEEA3B1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lang="en-GB" sz="12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sz="12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0" name="S790">
            <a:extLst>
              <a:ext uri="{FF2B5EF4-FFF2-40B4-BE49-F238E27FC236}">
                <a16:creationId xmlns:a16="http://schemas.microsoft.com/office/drawing/2014/main" id="{6E7FDA69-3377-22F1-F00D-9BD2810494D7}"/>
              </a:ext>
            </a:extLst>
          </p:cNvPr>
          <p:cNvSpPr txBox="1"/>
          <p:nvPr/>
        </p:nvSpPr>
        <p:spPr>
          <a:xfrm>
            <a:off x="228600" y="804672"/>
            <a:ext cx="1965960" cy="1005840"/>
          </a:xfrm>
          <a:prstGeom prst="rect">
            <a:avLst/>
          </a:prstGeom>
          <a:solidFill>
            <a:srgbClr val="EAF0F6"/>
          </a:solidFill>
          <a:ln w="19050">
            <a:solidFill>
              <a:srgbClr val="85200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85200C"/>
                </a:solidFill>
                <a:latin typeface="Calibri"/>
              </a:rPr>
              <a:t>40×</a:t>
            </a:r>
          </a:p>
          <a:p>
            <a:pPr algn="ctr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DTM Speedup</a:t>
            </a:r>
          </a:p>
        </p:txBody>
      </p:sp>
      <p:sp>
        <p:nvSpPr>
          <p:cNvPr id="791" name="S791">
            <a:extLst>
              <a:ext uri="{FF2B5EF4-FFF2-40B4-BE49-F238E27FC236}">
                <a16:creationId xmlns:a16="http://schemas.microsoft.com/office/drawing/2014/main" id="{3E03DF60-FE7A-F346-182C-1C16542A5B0F}"/>
              </a:ext>
            </a:extLst>
          </p:cNvPr>
          <p:cNvSpPr txBox="1"/>
          <p:nvPr/>
        </p:nvSpPr>
        <p:spPr>
          <a:xfrm>
            <a:off x="2331720" y="804672"/>
            <a:ext cx="1965960" cy="1005840"/>
          </a:xfrm>
          <a:prstGeom prst="rect">
            <a:avLst/>
          </a:prstGeom>
          <a:solidFill>
            <a:srgbClr val="EAF0F6"/>
          </a:solidFill>
          <a:ln w="19050">
            <a:solidFill>
              <a:srgbClr val="117777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17777"/>
                </a:solidFill>
                <a:latin typeface="Calibri"/>
              </a:rPr>
              <a:t>AUC 0.999</a:t>
            </a:r>
          </a:p>
          <a:p>
            <a:pPr algn="ctr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Model Accuracy</a:t>
            </a:r>
          </a:p>
        </p:txBody>
      </p:sp>
      <p:sp>
        <p:nvSpPr>
          <p:cNvPr id="792" name="S792">
            <a:extLst>
              <a:ext uri="{FF2B5EF4-FFF2-40B4-BE49-F238E27FC236}">
                <a16:creationId xmlns:a16="http://schemas.microsoft.com/office/drawing/2014/main" id="{A10AE665-667A-BE3C-2438-1EFD351D6459}"/>
              </a:ext>
            </a:extLst>
          </p:cNvPr>
          <p:cNvSpPr txBox="1"/>
          <p:nvPr/>
        </p:nvSpPr>
        <p:spPr>
          <a:xfrm>
            <a:off x="4434840" y="804672"/>
            <a:ext cx="1965960" cy="1005840"/>
          </a:xfrm>
          <a:prstGeom prst="rect">
            <a:avLst/>
          </a:prstGeom>
          <a:solidFill>
            <a:srgbClr val="EAF0F6"/>
          </a:solidFill>
          <a:ln w="19050">
            <a:solidFill>
              <a:srgbClr val="1B3A5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B3A5C"/>
                </a:solidFill>
                <a:latin typeface="Calibri"/>
              </a:rPr>
              <a:t>2,851</a:t>
            </a:r>
          </a:p>
          <a:p>
            <a:pPr algn="ctr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Channels Designed</a:t>
            </a:r>
          </a:p>
        </p:txBody>
      </p:sp>
      <p:sp>
        <p:nvSpPr>
          <p:cNvPr id="793" name="S793">
            <a:extLst>
              <a:ext uri="{FF2B5EF4-FFF2-40B4-BE49-F238E27FC236}">
                <a16:creationId xmlns:a16="http://schemas.microsoft.com/office/drawing/2014/main" id="{3DC89B91-1916-9256-D154-7C6672DBC2B1}"/>
              </a:ext>
            </a:extLst>
          </p:cNvPr>
          <p:cNvSpPr txBox="1"/>
          <p:nvPr/>
        </p:nvSpPr>
        <p:spPr>
          <a:xfrm>
            <a:off x="6537960" y="804672"/>
            <a:ext cx="1965960" cy="1005840"/>
          </a:xfrm>
          <a:prstGeom prst="rect">
            <a:avLst/>
          </a:prstGeom>
          <a:solidFill>
            <a:srgbClr val="EAF0F6"/>
          </a:solidFill>
          <a:ln w="19050">
            <a:solidFill>
              <a:srgbClr val="B94A00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B94A00"/>
                </a:solidFill>
                <a:latin typeface="Calibri"/>
              </a:rPr>
              <a:t>₹327 L</a:t>
            </a:r>
          </a:p>
          <a:p>
            <a:pPr algn="ctr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CPWD-Costed Budget</a:t>
            </a:r>
          </a:p>
        </p:txBody>
      </p:sp>
      <p:sp>
        <p:nvSpPr>
          <p:cNvPr id="700" name="S700">
            <a:extLst>
              <a:ext uri="{FF2B5EF4-FFF2-40B4-BE49-F238E27FC236}">
                <a16:creationId xmlns:a16="http://schemas.microsoft.com/office/drawing/2014/main" id="{F1D46352-E775-58C6-406B-66E01D5151A7}"/>
              </a:ext>
            </a:extLst>
          </p:cNvPr>
          <p:cNvSpPr txBox="1"/>
          <p:nvPr/>
        </p:nvSpPr>
        <p:spPr>
          <a:xfrm>
            <a:off x="228600" y="2944368"/>
            <a:ext cx="8686800" cy="310896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wrap="square" lIns="91425" tIns="91425" rIns="91425" bIns="91425" anchor="ctr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/>
              </a:rPr>
              <a:t>DTM Drainage AI  |  Problem Statement PS-2  |  Automated LiDAR-to-Drainage Pipeline</a:t>
            </a:r>
          </a:p>
        </p:txBody>
      </p:sp>
      <p:sp>
        <p:nvSpPr>
          <p:cNvPr id="701" name="S701">
            <a:extLst>
              <a:ext uri="{FF2B5EF4-FFF2-40B4-BE49-F238E27FC236}">
                <a16:creationId xmlns:a16="http://schemas.microsoft.com/office/drawing/2014/main" id="{41E89D2A-E878-FA23-61E9-48272B1849BD}"/>
              </a:ext>
            </a:extLst>
          </p:cNvPr>
          <p:cNvSpPr txBox="1"/>
          <p:nvPr/>
        </p:nvSpPr>
        <p:spPr>
          <a:xfrm>
            <a:off x="228600" y="3310128"/>
            <a:ext cx="2606040" cy="658368"/>
          </a:xfrm>
          <a:prstGeom prst="rect">
            <a:avLst/>
          </a:prstGeom>
          <a:solidFill>
            <a:srgbClr val="EAF0F6"/>
          </a:solidFill>
          <a:ln w="19050">
            <a:solidFill>
              <a:srgbClr val="85200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85200C"/>
                </a:solidFill>
                <a:latin typeface="Calibri"/>
              </a:rPr>
              <a:t>RMSE 0.097–0.254 m</a:t>
            </a:r>
          </a:p>
          <a:p>
            <a:pPr algn="ctr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DTM Vertical Accuracy</a:t>
            </a:r>
          </a:p>
        </p:txBody>
      </p:sp>
      <p:sp>
        <p:nvSpPr>
          <p:cNvPr id="702" name="S702">
            <a:extLst>
              <a:ext uri="{FF2B5EF4-FFF2-40B4-BE49-F238E27FC236}">
                <a16:creationId xmlns:a16="http://schemas.microsoft.com/office/drawing/2014/main" id="{11DC39BD-ACCE-85A3-62FE-ADF1CFFDEB75}"/>
              </a:ext>
            </a:extLst>
          </p:cNvPr>
          <p:cNvSpPr txBox="1"/>
          <p:nvPr/>
        </p:nvSpPr>
        <p:spPr>
          <a:xfrm>
            <a:off x="3063240" y="3310128"/>
            <a:ext cx="2606040" cy="658368"/>
          </a:xfrm>
          <a:prstGeom prst="rect">
            <a:avLst/>
          </a:prstGeom>
          <a:solidFill>
            <a:srgbClr val="EAF0F6"/>
          </a:solidFill>
          <a:ln w="19050">
            <a:solidFill>
              <a:srgbClr val="117777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117777"/>
                </a:solidFill>
                <a:latin typeface="Calibri"/>
              </a:rPr>
              <a:t>AUC 0.999</a:t>
            </a:r>
          </a:p>
          <a:p>
            <a:pPr algn="ctr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Waterlogging Risk Model</a:t>
            </a:r>
          </a:p>
        </p:txBody>
      </p:sp>
      <p:sp>
        <p:nvSpPr>
          <p:cNvPr id="703" name="S703">
            <a:extLst>
              <a:ext uri="{FF2B5EF4-FFF2-40B4-BE49-F238E27FC236}">
                <a16:creationId xmlns:a16="http://schemas.microsoft.com/office/drawing/2014/main" id="{2313BB7E-A2AE-6D1C-4D18-E95D41E213A9}"/>
              </a:ext>
            </a:extLst>
          </p:cNvPr>
          <p:cNvSpPr txBox="1"/>
          <p:nvPr/>
        </p:nvSpPr>
        <p:spPr>
          <a:xfrm>
            <a:off x="5897880" y="3310128"/>
            <a:ext cx="2606040" cy="658368"/>
          </a:xfrm>
          <a:prstGeom prst="rect">
            <a:avLst/>
          </a:prstGeom>
          <a:solidFill>
            <a:srgbClr val="EAF0F6"/>
          </a:solidFill>
          <a:ln w="19050">
            <a:solidFill>
              <a:srgbClr val="1B3A5C"/>
            </a:solidFill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1B3A5C"/>
                </a:solidFill>
                <a:latin typeface="Calibri"/>
              </a:rPr>
              <a:t>2,851 Channels</a:t>
            </a:r>
          </a:p>
          <a:p>
            <a:pPr algn="ctr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135 km  |  ₹327 Lakhs</a:t>
            </a:r>
          </a:p>
        </p:txBody>
      </p:sp>
      <p:sp>
        <p:nvSpPr>
          <p:cNvPr id="705" name="S705">
            <a:extLst>
              <a:ext uri="{FF2B5EF4-FFF2-40B4-BE49-F238E27FC236}">
                <a16:creationId xmlns:a16="http://schemas.microsoft.com/office/drawing/2014/main" id="{BC5EC3CD-85FF-CF10-7F9C-2BD9C7DAC7EE}"/>
              </a:ext>
            </a:extLst>
          </p:cNvPr>
          <p:cNvSpPr txBox="1"/>
          <p:nvPr/>
        </p:nvSpPr>
        <p:spPr>
          <a:xfrm>
            <a:off x="457200" y="4023360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Open Source:  github.com/charansaiponnada/DTM</a:t>
            </a:r>
          </a:p>
          <a:p>
            <a:pPr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Contact:  Charan Sai Ponnada  |  Siddhartha Academy of Higher Education</a:t>
            </a:r>
          </a:p>
        </p:txBody>
      </p:sp>
    </p:spTree>
    <p:extLst>
      <p:ext uri="{BB962C8B-B14F-4D97-AF65-F5344CB8AC3E}">
        <p14:creationId xmlns:p14="http://schemas.microsoft.com/office/powerpoint/2010/main" val="15554536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1377</Words>
  <Application>Microsoft Office PowerPoint</Application>
  <PresentationFormat>On-screen Show (16:9)</PresentationFormat>
  <Paragraphs>171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Simple Light</vt:lpstr>
      <vt:lpstr>National AI/ML Hackathon</vt:lpstr>
      <vt:lpstr>Proposed Solution</vt:lpstr>
      <vt:lpstr>System Architecture / Workflow</vt:lpstr>
      <vt:lpstr>Implementation &amp; Technical Approach</vt:lpstr>
      <vt:lpstr>Results &amp; Demonstration</vt:lpstr>
      <vt:lpstr>Waterlogging Risk — One Model, 4 Villages</vt:lpstr>
      <vt:lpstr>Drainage Network — Costed &amp; Sized</vt:lpstr>
      <vt:lpstr>Innovation &amp; Key Learnings</vt:lpstr>
      <vt:lpstr>Q/A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Charan Sai Ponnada</cp:lastModifiedBy>
  <cp:revision>9</cp:revision>
  <dcterms:modified xsi:type="dcterms:W3CDTF">2026-06-27T06:55:24Z</dcterms:modified>
</cp:coreProperties>
</file>