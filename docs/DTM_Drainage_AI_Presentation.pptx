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DTM Drainage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Automated DTM Generation, Waterlogging Prediction &amp; Drainage Network Design from LiDAR Point Clouds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SVAMITVA Scheme — Ministry of Panchayati Raj  |  MoPR Geospatial Intelligence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Villages Processed: DEVDI (Gujarat)  •  KHAPRETA (Gujarat)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t>Data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933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LAS/LAZ tiling, density &amp; bounds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41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t>Ground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706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SMRF filter (PDAL) → ground/non-ground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0972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735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18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t>DTM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47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IDW interpolation → 0.5 m COG + terrain derivatives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77640"/>
            <a:ext cx="10972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507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95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t>Hydrological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3251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Fill → D8 flow → accumulation → TWI → streams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0972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280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t>Waterlogging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02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XGBoost on 10 terrain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32120"/>
            <a:ext cx="10972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6052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50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t>Drainage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8795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MST optimisation + Manning’s hydraulic sizing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DEVDI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64.6 M points  •  0.81 km²  •  65 pts/m²  •  6 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DTM Drainage AI Pipeline — MoPR Geospatial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DEVDI — Pipeline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858000"/>
              </a:tblGrid>
              <a:tr h="4000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Ground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Acc=43.99%, F1=0.252, Rec=94.75%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DTM Accuracy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RMSE=0.89m, MAE=0.25m, LE90=0.40m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DTM Elevation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-31.2 to -7.9 m (mean: -18.3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Waterlogging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AUC=0.560, F1=0.264, Brier=0.258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Waterlogging Hotspots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402,191 / 2,628,935 cells (15.3%)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Drainage Network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966 channels, 54.1 km, ₹432.5L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Flow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0.53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DEVDI — Drainage Network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39188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Channel Segments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Channel Length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54.06 km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Estimated Construction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₹432.51 Lakhs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Design Velocity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0.528 m/s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Capacity Exceedances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Stream Coverage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3C6E"/>
                </a:solidFill>
                <a:latin typeface="Calibri"/>
              </a:defRPr>
            </a:pPr>
            <a:r>
              <a:t>Top features: log_flow_acc (85.3%), stream_distance (7.5%), twi (4.8%)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KHAPRETA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163.7 M points  •  0.67 km²  •  245 pts/m²  •  4 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DTM Drainage AI Pipeline — MoPR Geospatial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KHAPRETA — Pipeline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858000"/>
              </a:tblGrid>
              <a:tr h="4000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Ground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Acc=28.96%, F1=0.154, Rec=93.82%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DTM Accuracy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RMSE=6.13m, MAE=1.06m, LE90=0.37m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DTM Elevation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115.3 to 151.0 m (mean: 133.8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Waterlogging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AUC=0.508, F1=0.255, Brier=0.255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Waterlogging Hotspots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271,606 / 1,809,138 cells (15.0%)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Drainage Network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575 channels, 27.8 km, ₹222.2L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Flow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0.52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KHAPRETA — Drainage Network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39188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Channel Segments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Channel Length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27.78 km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Estimated Construction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₹222.22 Lakhs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Design Velocity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0.515 m/s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Capacity Exceedances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Stream Coverage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3C6E"/>
                </a:solidFill>
                <a:latin typeface="Calibri"/>
              </a:defRPr>
            </a:pPr>
            <a:r>
              <a:t>Top features: log_flow_acc (87.2%), stream_distance (5.5%), twi (3.9%)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Village Comparison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886200"/>
                <a:gridCol w="3886200"/>
              </a:tblGrid>
              <a:tr h="3740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DEVDI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KHAPRETA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0.81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0.67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Point Density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 pts/m²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245 pts/m²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DTM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6.13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DTM LE90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0.40 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 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DTM Relief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23.3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35.8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Channels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Drain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54.1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27.8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₹432.5 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₹222.2 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WL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WL Pos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Insights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17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3C6E"/>
                </a:solidFill>
                <a:latin typeface="Calibri"/>
              </a:defRPr>
            </a:pPr>
            <a:r>
              <a:t>Both villages show ~15% waterlogging-prone area (consistent terrain-rule labelling)</a:t>
            </a:r>
          </a:p>
          <a:p>
            <a:pPr>
              <a:spcAft>
                <a:spcPts val="600"/>
              </a:spcAft>
              <a:defRPr sz="1600">
                <a:solidFill>
                  <a:srgbClr val="1A3C6E"/>
                </a:solidFill>
                <a:latin typeface="Calibri"/>
              </a:defRPr>
            </a:pPr>
            <a:r>
              <a:t>log_flow_accumulation is the dominant predictor (85–87% importance)</a:t>
            </a:r>
          </a:p>
          <a:p>
            <a:pPr>
              <a:spcAft>
                <a:spcPts val="600"/>
              </a:spcAft>
              <a:defRPr sz="1600">
                <a:solidFill>
                  <a:srgbClr val="1A3C6E"/>
                </a:solidFill>
                <a:latin typeface="Calibri"/>
              </a:defRPr>
            </a:pPr>
            <a:r>
              <a:t>KHAPRETA’s higher relief (35.8 m vs 23.3 m) drives steeper slopes and fewer channels (575 vs 966)</a:t>
            </a:r>
          </a:p>
          <a:p>
            <a:pPr>
              <a:spcAft>
                <a:spcPts val="600"/>
              </a:spcAft>
              <a:defRPr sz="1600">
                <a:solidFill>
                  <a:srgbClr val="1A3C6E"/>
                </a:solidFill>
                <a:latin typeface="Calibri"/>
              </a:defRPr>
            </a:pPr>
            <a:r>
              <a:t>DEVDI has lower elevation (mean -18.3 m) suggesting coastal/lowland terrain with denser drainage</a:t>
            </a:r>
          </a:p>
          <a:p>
            <a:pPr>
              <a:spcAft>
                <a:spcPts val="600"/>
              </a:spcAft>
              <a:defRPr sz="1600">
                <a:solidFill>
                  <a:srgbClr val="1A3C6E"/>
                </a:solidFill>
                <a:latin typeface="Calibri"/>
              </a:defRPr>
            </a:pPr>
            <a:r>
              <a:t>KHAPRETA’s higher point density (245 vs 65 pts/m²) gives higher DTM RMSE due to more terrain detail</a:t>
            </a:r>
          </a:p>
          <a:p>
            <a:pPr>
              <a:spcAft>
                <a:spcPts val="600"/>
              </a:spcAft>
              <a:defRPr sz="1600">
                <a:solidFill>
                  <a:srgbClr val="1A3C6E"/>
                </a:solidFill>
                <a:latin typeface="Calibri"/>
              </a:defRPr>
            </a:pPr>
            <a:r>
              <a:t>All drainage designs meet hydraulic capacity (0 capacity exceedances)</a:t>
            </a:r>
          </a:p>
          <a:p>
            <a:pPr>
              <a:spcAft>
                <a:spcPts val="600"/>
              </a:spcAft>
              <a:defRPr sz="1600">
                <a:solidFill>
                  <a:srgbClr val="1A3C6E"/>
                </a:solidFill>
                <a:latin typeface="Calibri"/>
              </a:defRPr>
            </a:pPr>
            <a:r>
              <a:t>Next: field validation of waterlogging hotspots, integration with rainfall-runoff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