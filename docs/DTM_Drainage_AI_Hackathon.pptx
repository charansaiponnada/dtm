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457200" cy="4114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 i="0">
                <a:solidFill>
                  <a:srgbClr val="2C3E50"/>
                </a:solidFill>
                <a:latin typeface="Calibri"/>
              </a:defRPr>
            </a:pPr>
            <a:r>
              <a:t>DTM Drainage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 i="0">
                <a:solidFill>
                  <a:srgbClr val="8B7355"/>
                </a:solidFill>
                <a:latin typeface="Calibri"/>
              </a:defRPr>
            </a:pPr>
            <a:r>
              <a:t>Automated DTM Generation · Waterlogging Prediction · Drainage Network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66160"/>
            <a:ext cx="3657600" cy="36576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7F8C8D"/>
                </a:solidFill>
                <a:latin typeface="Calibri"/>
              </a:defRPr>
            </a:pPr>
            <a:r>
              <a:t>from Airborne LiDAR Point Clouds under the SVAMITVA Scheme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A0522D"/>
                </a:solidFill>
                <a:latin typeface="Calibri"/>
              </a:defRPr>
            </a:pPr>
            <a:r>
              <a:t>MoPR Geospatial Intelligence Hackathon — Problem Statement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7F8C8D"/>
                </a:solidFill>
                <a:latin typeface="Calibri"/>
              </a:defRPr>
            </a:pPr>
            <a:r>
              <a:t>Villages: DEVDI (Gujarat)  ·  KHAPRETA (Gujarat)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0" i="0">
                <a:solidFill>
                  <a:srgbClr val="8B7355"/>
                </a:solidFill>
                <a:latin typeface="Calibri"/>
              </a:defRPr>
            </a:pPr>
            <a:r>
              <a:t>Siddhartha Academy of Higher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Ministry of Panchayati Raj (MoPR) SVAMITVA scheme captures drone LiDAR of ~10 village abadi areas in Gujarat</a:t>
            </a:r>
          </a:p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Challenge: Generate high-resolution Digital Terrain Models (DTMs) from raw LiDAR point clouds</a:t>
            </a:r>
          </a:p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Identify waterlogging hotspot zones using AI/ML on terrain-derived features</a:t>
            </a:r>
          </a:p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Design a cost-optimal drainage network for each village</a:t>
            </a:r>
          </a:p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Deliver all outputs in OGC-compliant GIS formats (COG raster + GPKG vector)</a:t>
            </a:r>
          </a:p>
          <a:p>
            <a:pPr>
              <a:spcAft>
                <a:spcPts val="600"/>
              </a:spcAft>
              <a:defRPr sz="1700">
                <a:solidFill>
                  <a:srgbClr val="3D2B1F"/>
                </a:solidFill>
                <a:latin typeface="Calibri"/>
              </a:defRPr>
            </a:pPr>
            <a:r>
              <a:t>• Target: Village-scale solutions for flood mitigation and infrastructure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▶ Requirement 1: DTM at ≤0.5 m resolution  |  Requirement 2: Waterlogging probability map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▶ Requirement 3: Engineered drainage network with cost estimates  |  Requirement 4: All outputs in open GIS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Gujarat faces recurrent waterlogging during monsoon; accurate DTMs are critical for drainage planning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SVAMITVA (Survey of Villages and Mapping with Improvised Technology in Village Areas) scheme provides high-density LiDAR (65–245 pts/m²)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Traditional manual drainage design is slow, inconsistent, and does not scale to 10+ villages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Our pipeline automates the entire workflow: raw point cloud → engineered drainage network in &lt;10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DEVDI: 64.6 M points, 0.81 km², 65 pts/m²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KHAPRETA: 163.7 M points, 0.67 km², 245 pts/m²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CRS: EPSG:32643 (WGS 84 / UTM Zone 43N)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Format: LAS 1.4 / LAZ (compressed)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Elevation: DEVDI -31.2 to -7.9 m (below MSL)</a:t>
            </a:r>
          </a:p>
          <a:p>
            <a:pPr>
              <a:spcAft>
                <a:spcPts val="6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Elevation: KHAPRETA 115.3 to 151.0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Related Works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SMRF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002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Mongus, D., &amp; Žalik, B. (2012). Parameter-free ground filtering of LiDAR data for automatic DTM generation. ISPRS Journal of Photogrammetry and Remote Sensing.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PointNet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Qi, C. R., et al. (2017). PointNet: Deep Learning on Point Sets for 3D Classification and Segmentation. CVPR.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546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Chen, T., &amp; Guestrin, C. (2016). XGBoost: A Scalable Tree Boosting System. KDD.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935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pysheds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Bartos, M. (2020). pysheds: watershed and flow routing in Python. Journal of Open Source Software.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Manning’s Eq.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709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Manning, R. (1891). On the flow of water in open channels and pipes. Transactions of ICE Ireland.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13832"/>
            <a:ext cx="1463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IS 10430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486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3D2B1F"/>
                </a:solidFill>
                <a:latin typeface="Calibri"/>
              </a:defRPr>
            </a:pPr>
            <a:r>
              <a:t>Bureau of Indian Standards. IS 10430: Criteria for design of lined canals and guidance for selection of type of lining.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System Architecture — 6-Stage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Data</a:t>
            </a:r>
            <a:br/>
            <a:r>
              <a:t>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LAS/LAZ metadata</a:t>
            </a:r>
            <a:br/>
            <a:r>
              <a:t>tiling, CRS validation</a:t>
            </a:r>
            <a:br/>
            <a:r>
              <a:t>density &amp; bounds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8288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Ground</a:t>
            </a:r>
            <a:br/>
            <a: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SMRF filter (PDAL)</a:t>
            </a:r>
            <a:br/>
            <a:r>
              <a:t>CSF fallback</a:t>
            </a:r>
            <a:br/>
            <a:r>
              <a:t>RF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8288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DTM</a:t>
            </a:r>
            <a:br/>
            <a: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IDW interpolation</a:t>
            </a:r>
            <a:br/>
            <a:r>
              <a:t>0.5 m resolution</a:t>
            </a:r>
            <a:br/>
            <a:r>
              <a:t>Terrain derivatives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18288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Hydrological</a:t>
            </a:r>
            <a:br/>
            <a:r>
              <a:t>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Depression filling</a:t>
            </a:r>
            <a:br/>
            <a:r>
              <a:t>D8 flow routing</a:t>
            </a:r>
            <a:br/>
            <a:r>
              <a:t>Stream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18288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Waterlogging</a:t>
            </a:r>
            <a:br/>
            <a:r>
              <a:t>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10-feature stack</a:t>
            </a:r>
            <a:br/>
            <a:r>
              <a:t>XGBoost classifier</a:t>
            </a:r>
            <a:br/>
            <a:r>
              <a:t>5-fold 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18288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A052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1645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166420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28600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377440"/>
            <a:ext cx="1508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C3E50"/>
                </a:solidFill>
                <a:latin typeface="Calibri"/>
              </a:defRPr>
            </a:pPr>
            <a:r>
              <a:t>Drainage</a:t>
            </a:r>
            <a:br/>
            <a:r>
              <a:t>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00400"/>
            <a:ext cx="1508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MST optimisation</a:t>
            </a:r>
            <a:br/>
            <a:r>
              <a:t>Manning’s sizing</a:t>
            </a:r>
            <a:br/>
            <a:r>
              <a:t>Cost estimation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8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INPUT: LAS/LAZ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53035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5321808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OUTPUT: COG + GPKG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349240"/>
            <a:ext cx="7406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──────────────────────────────────▶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Methodology: Data Preparation &amp; Terrain Modelling (Stages 1–3)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1: Data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Read LAS/LAZ headers (lazrs/laspy)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Validate CRS (EPSG:32643)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Compute density, bounds, point count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Tile large files: 500m tiles + 25m buffer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4747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2: Ground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SMRF via PDAL (pdal.exe subprocess)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slope=0.15, window=18m, threshold=0.5m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CSF fallback if PDAL unavailable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Random Forest refinement on geometric features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Output: classified_ground.las (ASPRS class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554480"/>
            <a:ext cx="34747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3: DTM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IDW interpolation (k=16, power=2)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cKDTree batch query: 40× speedup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0.5 m resolution Cloud-Optimized GeoTIFF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8 terrain derivatives: slope, aspect,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  curvature, TPI, roughness, hillshade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0881360" cy="228600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2C3E50"/>
                </a:solidFill>
                <a:latin typeface="Calibri"/>
              </a:defRPr>
            </a:pPr>
            <a:r>
              <a:t>🔮 Key Technique: IDW Vectorised Interpolation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3D2B1F"/>
                </a:solidFill>
                <a:latin typeface="Calibri"/>
              </a:defRPr>
            </a:pPr>
            <a:r>
              <a:t>Build KD-tree once on ground points → Query all grid cells in one batched call (workers=-1) → Vectorised weight computation - no Python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332720" cy="109728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9966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FFFFFF"/>
                </a:solidFill>
                <a:latin typeface="Consolas"/>
              </a:defRPr>
            </a:pPr>
            <a:r>
              <a:t>dists, idxs = tree.query(grid_points, k=16, workers=-1)</a:t>
            </a:r>
            <a:br/>
            <a:r>
              <a:t>weights = 1.0 / np.maximum(dists**2, 1e-10)</a:t>
            </a:r>
            <a:br/>
            <a:r>
              <a:t>z_interp = (weights * ground_z[idxs]).sum(axis=1) / weights.sum(axis=1)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Methodology: Hydrology, AI &amp; Drainage Design (Stages 4–6)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4: Hydrological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Depression filling (Wang &amp; Liu, pysheds)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D8 flow direction → flow accumulation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TWI = ln(α / tan β)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Stream extraction @ ≥1000 cell threshold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O(N) DFS tracer for LineString extraction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Output: twi.tif, flow_accum.tif, streams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474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5: Waterlogging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10-feature stack: elev, slope, aspect, TPI,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  TWI, flow_acc, curvatures, depression, stream_dist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Terrain-proxy labels: TWI&gt;8 OR log_acc&gt;7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  OR low_elev+low_slope OR depression&gt;0.2m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XGBoost Classifier (100 trees, depth=6)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5-fold StratifiedKFold CV + COG probability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554480"/>
            <a:ext cx="3474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347472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72768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Stage 6: Drainage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Build flow graph from stream segments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Minimum Spanning Tree (Kruskal’s algorithm)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Rational Method: Q = C·i·A / 360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Manning’s Eq: Q = (1/n)·A·R²³·S¹²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Trapezoidal earthen channel (1.5H:1V)</a:t>
            </a:r>
          </a:p>
          <a:p>
            <a:pPr>
              <a:spcAft>
                <a:spcPts val="4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Cost estimation per segment → GPKG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10881360" cy="210312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2C3E50"/>
                </a:solidFill>
                <a:latin typeface="Calibri"/>
              </a:defRPr>
            </a:pPr>
            <a:r>
              <a:t>📐 Design Parameters (10-year return period)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Manning’s n = 0.025 (earthen unlined)  ·  Side slope z = 1.5 (1.5H:1V)  ·  Rainfall i = 50 mm/hr  ·  Runoff C = 0.65</a:t>
            </a:r>
          </a:p>
          <a:p>
            <a:pPr>
              <a:spcAft>
                <a:spcPts val="6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Velocity check: 0.3 m/s (self-cleaning) ≤ V ≤ 2.0 m/s (erosion limit)  ·  Cost rate: ₹800/m (base) + depth-dependent 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ML Model: XGBoost Waterlogging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Architecture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Algorithm: XGBoost (Histogram-based tree splits)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Estimators: 100 trees, max_depth=6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Learning rate: 0.05, scale_pos_weight=5.5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Cross-validation: 5-fold StratifiedKFold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Preprocessing: RobustScaler (median/IQR)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Training AUC: 1.000 (memorises terrain rule)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CV AUC: 0.560 (DEVDI) / 0.509 (KHAPRETA)</a:t>
            </a:r>
          </a:p>
          <a:p>
            <a:pPr>
              <a:spcAft>
                <a:spcPts val="5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Model size: ~711 KB (joblib serialised)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Feature Importance (DEVDI)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2194560"/>
          <a:ext cx="4937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8B7355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log_flow_acc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stream_distance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twi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slope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profile_curv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plan_curv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elevation_norm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tpi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depression_depth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548640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A0522D"/>
                </a:solidFill>
                <a:latin typeface="Calibri"/>
              </a:defRPr>
            </a:pPr>
            <a:r>
              <a:t>log_flow_accumulation dominates at 85–87% importance across both villages.</a:t>
            </a:r>
            <a:br/>
            <a:r>
              <a:t>TWI and stream_distance are secondary contributors.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Results: DEVDI Village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64.6 M pts  ·  0.81 km²  ·  65 pts/m²  ·  6 tiles  ·  Elev: -31.2 to -7.9 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74320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Ground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Accuracy /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44.0% / 0.252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Precision / Recall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0.146 / 94.8%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DTM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RMSE /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0.89 m / 0.25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LE90 / NMAD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0.40 m / 0.084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Waterlogging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Mean AUC (CV)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Mean F1 / Brier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0.2640 / 0.2580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Positive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15.07%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Drainage Network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Channels / Length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966 / 54.1 km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₹432.5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Avg Velocity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0.528 m/s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645920"/>
            <a:ext cx="41148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645920"/>
            <a:ext cx="41148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64208"/>
            <a:ext cx="3931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DTM + Drainage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2608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[Screenshot of DTM and</a:t>
            </a:r>
            <a:br/>
            <a:r>
              <a:t>drainage network overlay]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502920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5047488"/>
            <a:ext cx="3931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Waterlogging Probability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6692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[Screenshot of probability heatmap]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Results: KHAPRETA Village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163.7 M pts  ·  0.67 km²  ·  245 pts/m²  ·  4 tiles  ·  Elev: 115.3 to 151.0 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74320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Ground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Accuracy /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29.0% / 0.154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Precision / Recall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0.084 / 93.8%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DTM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RMSE /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6.13 m / 1.06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LE90 / NMAD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0.37 m / 0.066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Waterlogging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Mean AUC (CV)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Mean F1 / Brier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0.2552 / 0.2554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Positive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15.14%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Drainage Network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Channels / Length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575 / 27.8 km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₹222.2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Avg Velocity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0.515 m/s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645920"/>
            <a:ext cx="4114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645920"/>
            <a:ext cx="41148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64208"/>
            <a:ext cx="3931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DTM + Drainage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572000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4572000"/>
            <a:ext cx="41148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590288"/>
            <a:ext cx="3931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Waterlogging Probability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035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Side-by-Side Village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51960"/>
                <a:gridCol w="425196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DEVDI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KHAPRETA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64.6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163.7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65 pts/m²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245 pts/m²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0.81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0.67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Elevation Range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-31.2 to -7.9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115.3 to 151.0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Relief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23.3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35.8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GC F1-Score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0.252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0.154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DTM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0.89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6.13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DTM LE90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0.40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0.37 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WL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WL Positive Rate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Drain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Drain Length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54.1 km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27.8 km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₹432.5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D2B1F"/>
                          </a:solidFill>
                          <a:latin typeface="Calibri"/>
                        </a:defRPr>
                      </a:pPr>
                      <a:r>
                        <a:t>₹222.2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Cost Analysis: Drainage Network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DEVDI: 966 channels, 54.1 km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  → Cost: ₹432.5 Lakhs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  → Cost/km: ₹8 L/km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KHAPRETA: 575 channels, 27.8 km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  → Cost: ₹222.2 Lakhs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  → Cost/km: ₹8 L/km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TOTAL: 1541 channels, 81.8 km across both villages</a:t>
            </a:r>
          </a:p>
          <a:p>
            <a:pPr>
              <a:spcAft>
                <a:spcPts val="400"/>
              </a:spcAft>
              <a:defRPr sz="1400">
                <a:solidFill>
                  <a:srgbClr val="3D2B1F"/>
                </a:solidFill>
                <a:latin typeface="Calibri"/>
              </a:defRPr>
            </a:pPr>
            <a:r>
              <a:t>•   → Combined Cost: ₹654.7 Lakhs (₹6.55 Crores)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C3E50"/>
                </a:solidFill>
                <a:latin typeface="Calibri"/>
              </a:defRPr>
            </a:pPr>
            <a:r>
              <a:t>Design Parameters (both villages)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Design storm: 10-year return period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Rainfall intensity: 50 mm/hr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Runoff coefficient: C = 0.65 (Rational Method)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Channel type: Trapezoidal earthen unlined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Manning’s n = 0.025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Side slope: 1.5H : 1V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Velocity limits: 0.3 – 2.0 m/s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Capacity exceedances: 0 (all channels adequate)</a:t>
            </a:r>
          </a:p>
          <a:p>
            <a:pPr>
              <a:spcAft>
                <a:spcPts val="4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• Stream coverage: 100% (all extracted streams designed)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Scalability &amp;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383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🧭 Tiling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Files &gt;50M pts auto-tiled into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500×500 m tiles with 25m buffer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Each tile processed independently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Parallelisable across CPU cores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Merged after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Memory-safe for any file size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Tested: 64M → 6 tiles, 163M → 4 tiles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7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50292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72768"/>
            <a:ext cx="3383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⚡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Full pipeline ~8 min per village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Stage 1: 5s  |  Stage 2: 120s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Stage 3: 25s  |  Stage 4: 50s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Stage 5: 260s  |  Stage 6: 1s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RAM: 8 GB min, 16 GB rec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CPU: 4 cores min, 8+ rec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Disk: 5 GB free per village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5029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72768"/>
            <a:ext cx="3383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🔄 Batch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--batch flag processes all villages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Configured via config.yaml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Rich console summary per village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Per-village independent output dirs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Can resume from any stage: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  --stages 4,5,6 skips prior stages</a:t>
            </a:r>
          </a:p>
          <a:p>
            <a:pPr>
              <a:spcAft>
                <a:spcPts val="500"/>
              </a:spcAft>
              <a:defRPr sz="1200">
                <a:solidFill>
                  <a:srgbClr val="3D2B1F"/>
                </a:solidFill>
                <a:latin typeface="Calibri"/>
              </a:defRPr>
            </a:pPr>
            <a:r>
              <a:t>• Designed for 10+ village rollout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Key Insights &amp;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54864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Both villages show ~15% waterlogging-prone area (consistent terrain-rule labelling across terrains)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log_flow_accumulation is the dominant predictor (85–87% feature importance) — terrain convergence drives waterlogging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KHAPRETA’s higher relief (35.8 vs 23.3 m) drives steeper slopes, fewer channels (575 vs 966) and shorter drain length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DEVDI at mean -18.3 m elevation suggests coastal/lowland terrain requiring denser drainage infrastructure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Higher point density (245 pts/m²) captures more micro-terrain detail → higher DTM RMSE (6.13 vs 0.89 m) against flat-plane reference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All drainage designs meet hydraulic capacity (0 capacity exceedances) with velocities within self-cleaning range</a:t>
            </a:r>
          </a:p>
          <a:p>
            <a:pPr>
              <a:spcAft>
                <a:spcPts val="700"/>
              </a:spcAft>
              <a:defRPr sz="1500">
                <a:solidFill>
                  <a:srgbClr val="3D2B1F"/>
                </a:solidFill>
                <a:latin typeface="Calibri"/>
              </a:defRPr>
            </a:pPr>
            <a:r>
              <a:t>• Pipeline is fully automated: raw LAS/LAZ → engineered drainage network + GIS outputs in &lt;10 minutes (64M points)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2C3E50"/>
                </a:solidFill>
                <a:latin typeface="Calibri"/>
              </a:defRPr>
            </a:pPr>
            <a:r>
              <a:t>🎯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Field-validate waterlogging hotspots  ·  Obtain real flood labels (AUC expected &gt;0.85)  ·  Run batch on all 10 SVAMITVA villages</a:t>
            </a:r>
          </a:p>
          <a:p>
            <a:pPr>
              <a:spcAft>
                <a:spcPts val="600"/>
              </a:spcAft>
              <a:defRPr sz="1300">
                <a:solidFill>
                  <a:srgbClr val="3D2B1F"/>
                </a:solidFill>
                <a:latin typeface="Calibri"/>
              </a:defRPr>
            </a:pPr>
            <a:r>
              <a:t>▸ DGPS checkpoint validation for DTM (target LE90 ≤0.15 m, ISRO standard)  ·  Hydrograph routing for peak flow estimation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2C3E5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286000" cy="457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8B7355"/>
                </a:solidFill>
                <a:latin typeface="Calibri"/>
              </a:defRPr>
            </a:pPr>
            <a:r>
              <a:t>DTM Drainage AI Pipeline  —  MoPR Geospatial Intelligence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 i="0">
                <a:solidFill>
                  <a:srgbClr val="7F8C8D"/>
                </a:solidFill>
                <a:latin typeface="Calibri"/>
              </a:defRPr>
            </a:pPr>
            <a:r>
              <a:t>Problem Statement 2: DTM Generation, Waterlogging Prediction &amp; Drainage Network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943600" cy="164592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663440"/>
            <a:ext cx="5943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Siddhartha Academy of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074920"/>
            <a:ext cx="5943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[Team Member 1]  ·  [Team Member 2]  ·  [Team Member 3]</a:t>
            </a:r>
            <a:br/>
            <a:r>
              <a:t>[Team Member 4]  ·  [Team Member 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