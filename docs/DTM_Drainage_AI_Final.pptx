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411480" cy="42062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000" b="1" i="0">
                <a:solidFill>
                  <a:srgbClr val="2C3E50"/>
                </a:solidFill>
                <a:latin typeface="Calibri"/>
              </a:defRPr>
            </a:pPr>
            <a:r>
              <a:t>DTM Drainage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514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 i="0">
                <a:solidFill>
                  <a:srgbClr val="8B7355"/>
                </a:solidFill>
                <a:latin typeface="Calibri"/>
              </a:defRPr>
            </a:pPr>
            <a:r>
              <a:t>Automated Terrain Modelling · Waterlogging Risk · Drainage Network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246120"/>
            <a:ext cx="3657600" cy="4500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429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7F8C8D"/>
                </a:solidFill>
                <a:latin typeface="Calibri"/>
              </a:defRPr>
            </a:pPr>
            <a:r>
              <a:t>End-to-end pipeline from airborne LiDAR point clouds — SVAMITVA scheme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840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A0522D"/>
                </a:solidFill>
                <a:latin typeface="Calibri"/>
              </a:defRPr>
            </a:pPr>
            <a:r>
              <a:t>MoPR Geospatial Intelligence Hackathon  ·  Problem Statement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2519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8B7355"/>
                </a:solidFill>
                <a:latin typeface="Calibri"/>
              </a:defRPr>
            </a:pPr>
            <a:r>
              <a:t>Team: charansaiponnada  ·  IIT Tirupati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8006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7F8C8D"/>
                </a:solidFill>
                <a:latin typeface="Calibri"/>
              </a:defRPr>
            </a:pPr>
            <a:r>
              <a:t>4 villages processed across Gujarat &amp; Punjab  ·  Devdi  Khapreta  Dhal Hoshiarpur  Chakhirasingh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5577840"/>
            <a:ext cx="5852160" cy="685800"/>
          </a:xfrm>
          <a:prstGeom prst="roundRect">
            <a:avLst>
              <a:gd name="adj" fmla="val 8000"/>
            </a:avLst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669280"/>
            <a:ext cx="5577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 i="0">
                <a:solidFill>
                  <a:srgbClr val="2C3E50"/>
                </a:solidFill>
                <a:latin typeface="Calibri"/>
              </a:defRPr>
            </a:pPr>
            <a:r>
              <a:t>Raw LiDAR  →  DTM + Risk Map + Costed Drainage  in one automated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2194560" cy="5500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7F8C8D"/>
                </a:solidFill>
                <a:latin typeface="Calibri"/>
              </a:defRPr>
            </a:pPr>
            <a:r>
              <a:t>Rural India needs scalable, data-driven flood-mitigation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3D2B1F"/>
                </a:solidFill>
                <a:latin typeface="Calibri"/>
              </a:defRPr>
            </a:pPr>
            <a:r>
              <a:t>• MoPR's SVAMITVA scheme captures drone LiDAR over thousands of village abadi areas — a vast, underused 3-D terrain asset.</a:t>
            </a:r>
          </a:p>
          <a:p>
            <a:pPr>
              <a:spcAft>
                <a:spcPts val="900"/>
              </a:spcAft>
              <a:defRPr sz="1600">
                <a:solidFill>
                  <a:srgbClr val="3D2B1F"/>
                </a:solidFill>
                <a:latin typeface="Calibri"/>
              </a:defRPr>
            </a:pPr>
            <a:r>
              <a:t>• Manual drainage planning is slow, inconsistent, and cannot scale to 600,000+ villages.</a:t>
            </a:r>
          </a:p>
          <a:p>
            <a:pPr>
              <a:spcAft>
                <a:spcPts val="900"/>
              </a:spcAft>
              <a:defRPr sz="1600">
                <a:solidFill>
                  <a:srgbClr val="3D2B1F"/>
                </a:solidFill>
                <a:latin typeface="Calibri"/>
              </a:defRPr>
            </a:pPr>
            <a:r>
              <a:t>• Monsoon waterlogging damages property and health; planners lack objective, repeatable hotspot maps.</a:t>
            </a:r>
          </a:p>
          <a:p>
            <a:pPr>
              <a:spcAft>
                <a:spcPts val="900"/>
              </a:spcAft>
              <a:defRPr sz="1600">
                <a:solidFill>
                  <a:srgbClr val="3D2B1F"/>
                </a:solidFill>
                <a:latin typeface="Calibri"/>
              </a:defRPr>
            </a:pPr>
            <a:r>
              <a:t>• Raw point clouds are not directly usable — they must be turned into terrain models, risk maps and engineered designs.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297680"/>
          <a:ext cx="10698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058400"/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A052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Deliverable required by PS-2</a:t>
                      </a:r>
                    </a:p>
                  </a:txBody>
                  <a:tcPr>
                    <a:solidFill>
                      <a:srgbClr val="A052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High-resolution Digital Terrain Model (≤0.5 m) from raw LiDAR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AI/ML waterlogging risk map over terrain-derived features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Cost-optimised drainage network with hydraulic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All outputs in open OGC formats (COG raster + GeoPackage vector)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Our Solution — One Automated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2194560" cy="5500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7F8C8D"/>
                </a:solidFill>
                <a:latin typeface="Calibri"/>
              </a:defRPr>
            </a:pPr>
            <a:r>
              <a:t>Raw LAS/LAZ in · OGC-compliant DTM, risk map and costed drainage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204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78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20440" cy="502920"/>
          </a:xfrm>
          <a:prstGeom prst="roundRect">
            <a:avLst>
              <a:gd name="adj" fmla="val 5000"/>
            </a:avLst>
          </a:prstGeom>
          <a:solidFill>
            <a:srgbClr val="178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90472"/>
            <a:ext cx="3246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Fully automated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3D2B1F"/>
                </a:solidFill>
                <a:latin typeface="Calibri"/>
              </a:defRPr>
            </a:pPr>
            <a:r>
              <a:t>• Single command runs all 6 stages</a:t>
            </a:r>
          </a:p>
          <a:p>
            <a:pPr>
              <a:spcAft>
                <a:spcPts val="600"/>
              </a:spcAft>
              <a:defRPr sz="1250">
                <a:solidFill>
                  <a:srgbClr val="3D2B1F"/>
                </a:solidFill>
                <a:latin typeface="Calibri"/>
              </a:defRPr>
            </a:pPr>
            <a:r>
              <a:t>• No manual GIS steps</a:t>
            </a:r>
          </a:p>
          <a:p>
            <a:pPr>
              <a:spcAft>
                <a:spcPts val="600"/>
              </a:spcAft>
              <a:defRPr sz="1250">
                <a:solidFill>
                  <a:srgbClr val="3D2B1F"/>
                </a:solidFill>
                <a:latin typeface="Calibri"/>
              </a:defRPr>
            </a:pPr>
            <a:r>
              <a:t>• Batch mode for many villages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5204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520440" cy="502920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90472"/>
            <a:ext cx="3246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Physically grounded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031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3D2B1F"/>
                </a:solidFill>
                <a:latin typeface="Calibri"/>
              </a:defRPr>
            </a:pPr>
            <a:r>
              <a:t>• SMRF ground filter + IDW DTM</a:t>
            </a:r>
          </a:p>
          <a:p>
            <a:pPr>
              <a:spcAft>
                <a:spcPts val="600"/>
              </a:spcAft>
              <a:defRPr sz="1250">
                <a:solidFill>
                  <a:srgbClr val="3D2B1F"/>
                </a:solidFill>
                <a:latin typeface="Calibri"/>
              </a:defRPr>
            </a:pPr>
            <a:r>
              <a:t>• D8 hydrology, TWI, depressions</a:t>
            </a:r>
          </a:p>
          <a:p>
            <a:pPr>
              <a:spcAft>
                <a:spcPts val="600"/>
              </a:spcAft>
              <a:defRPr sz="1250">
                <a:solidFill>
                  <a:srgbClr val="3D2B1F"/>
                </a:solidFill>
                <a:latin typeface="Calibri"/>
              </a:defRPr>
            </a:pPr>
            <a:r>
              <a:t>• Manning's hydraulics + costing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5204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05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463040"/>
            <a:ext cx="3520440" cy="502920"/>
          </a:xfrm>
          <a:prstGeom prst="roundRect">
            <a:avLst>
              <a:gd name="adj" fmla="val 5000"/>
            </a:avLst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90472"/>
            <a:ext cx="3246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Scalable &amp; 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3D2B1F"/>
                </a:solidFill>
                <a:latin typeface="Calibri"/>
              </a:defRPr>
            </a:pPr>
            <a:r>
              <a:t>• Auto-tiling for any file size</a:t>
            </a:r>
          </a:p>
          <a:p>
            <a:pPr>
              <a:spcAft>
                <a:spcPts val="600"/>
              </a:spcAft>
              <a:defRPr sz="1250">
                <a:solidFill>
                  <a:srgbClr val="3D2B1F"/>
                </a:solidFill>
                <a:latin typeface="Calibri"/>
              </a:defRPr>
            </a:pPr>
            <a:r>
              <a:t>• Cloud-Optimized GeoTIFF + GPKG</a:t>
            </a:r>
          </a:p>
          <a:p>
            <a:pPr>
              <a:spcAft>
                <a:spcPts val="600"/>
              </a:spcAft>
              <a:defRPr sz="1250">
                <a:solidFill>
                  <a:srgbClr val="3D2B1F"/>
                </a:solidFill>
                <a:latin typeface="Calibri"/>
              </a:defRPr>
            </a:pPr>
            <a:r>
              <a:t>• Transfers across states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9768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8056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578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0" i="0">
                <a:solidFill>
                  <a:srgbClr val="E8DCC8"/>
                </a:solidFill>
                <a:latin typeface="Calibri"/>
              </a:defRPr>
            </a:pPr>
            <a:r>
              <a:t>villages, 2 states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429768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448056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314M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2578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0" i="0">
                <a:solidFill>
                  <a:srgbClr val="E8DCC8"/>
                </a:solidFill>
                <a:latin typeface="Calibri"/>
              </a:defRPr>
            </a:pPr>
            <a:r>
              <a:t>LiDAR points processed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9768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48056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135 km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2578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0" i="0">
                <a:solidFill>
                  <a:srgbClr val="E8DCC8"/>
                </a:solidFill>
                <a:latin typeface="Calibri"/>
              </a:defRPr>
            </a:pPr>
            <a:r>
              <a:t>drainage designed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429768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448056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₹1097L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52578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0" i="0">
                <a:solidFill>
                  <a:srgbClr val="E8DCC8"/>
                </a:solidFill>
                <a:latin typeface="Calibri"/>
              </a:defRPr>
            </a:pPr>
            <a:r>
              <a:t>costed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System Architecture — 6-Stage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2194560" cy="5500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7F8C8D"/>
                </a:solidFill>
                <a:latin typeface="Calibri"/>
              </a:defRPr>
            </a:pPr>
            <a:r>
              <a:t>One command · raw LiDAR in → OGC-compliant DTM, risk map and costed drainage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4984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121408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816352"/>
            <a:ext cx="176479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2816352"/>
            <a:ext cx="1764792" cy="45720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834640"/>
            <a:ext cx="17647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Inspect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3401568"/>
            <a:ext cx="1490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LAS/LAZ metadata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Auto-tiling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CRS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623560"/>
            <a:ext cx="1764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1">
                <a:solidFill>
                  <a:srgbClr val="8B7355"/>
                </a:solidFill>
                <a:latin typeface="Calibri"/>
              </a:defRPr>
            </a:pPr>
            <a:r>
              <a:t>laspy · 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7984" y="3566160"/>
            <a:ext cx="164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A0522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9504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9504" y="2121408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2816352"/>
            <a:ext cx="176479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286000" y="2816352"/>
            <a:ext cx="1764792" cy="45720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2834640"/>
            <a:ext cx="17647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Classify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2304" y="3401568"/>
            <a:ext cx="1490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SMRF filter (PDAL)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RF refinement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ASPRS class-2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623560"/>
            <a:ext cx="1764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1">
                <a:solidFill>
                  <a:srgbClr val="8B7355"/>
                </a:solidFill>
                <a:latin typeface="Calibri"/>
              </a:defRPr>
            </a:pPr>
            <a:r>
              <a:t>pdal · sklearn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3566160"/>
            <a:ext cx="164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A0522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64024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64024" y="2121408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2816352"/>
            <a:ext cx="176479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60520" y="2816352"/>
            <a:ext cx="1764792" cy="45720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2834640"/>
            <a:ext cx="17647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DTM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6824" y="3401568"/>
            <a:ext cx="1490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IDW (cKDTree)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0.5 m COG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8 derivatives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5623560"/>
            <a:ext cx="1764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1">
                <a:solidFill>
                  <a:srgbClr val="8B7355"/>
                </a:solidFill>
                <a:latin typeface="Calibri"/>
              </a:defRPr>
            </a:pPr>
            <a:r>
              <a:t>scipy · rio-cogeo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7024" y="3566160"/>
            <a:ext cx="164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A0522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38544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8544" y="2121408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2816352"/>
            <a:ext cx="176479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35040" y="2816352"/>
            <a:ext cx="1764792" cy="45720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2834640"/>
            <a:ext cx="17647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Hydrology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3401568"/>
            <a:ext cx="1490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Depression fill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D8 + TWI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Stream extract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5623560"/>
            <a:ext cx="1764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1">
                <a:solidFill>
                  <a:srgbClr val="8B7355"/>
                </a:solidFill>
                <a:latin typeface="Calibri"/>
              </a:defRPr>
            </a:pPr>
            <a:r>
              <a:t>pysheds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1544" y="3566160"/>
            <a:ext cx="164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A0522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13064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13064" y="2121408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2816352"/>
            <a:ext cx="176479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909560" y="2816352"/>
            <a:ext cx="1764792" cy="45720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09560" y="2834640"/>
            <a:ext cx="17647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Waterlogging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55864" y="3401568"/>
            <a:ext cx="1490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10-feature stack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XGBoost surrogate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CV + transfer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9560" y="5623560"/>
            <a:ext cx="1764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1">
                <a:solidFill>
                  <a:srgbClr val="8B7355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56064" y="3566160"/>
            <a:ext cx="164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A0522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87584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87584" y="2121408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84080" y="2816352"/>
            <a:ext cx="176479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784080" y="2816352"/>
            <a:ext cx="1764792" cy="45720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84080" y="2834640"/>
            <a:ext cx="17647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Drainage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30384" y="3401568"/>
            <a:ext cx="1490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MST routing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Manning's sizing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Calibri"/>
              </a:defRPr>
            </a:pPr>
            <a:r>
              <a:t>• Cost → GPKG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5623560"/>
            <a:ext cx="1764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1">
                <a:solidFill>
                  <a:srgbClr val="8B7355"/>
                </a:solidFill>
                <a:latin typeface="Calibri"/>
              </a:defRPr>
            </a:pPr>
            <a:r>
              <a:t>networkx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59893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6007608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INPUT  ·  LAS / LAZ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55480" y="5989320"/>
            <a:ext cx="2240280" cy="502920"/>
          </a:xfrm>
          <a:prstGeom prst="roundRect">
            <a:avLst>
              <a:gd name="adj" fmla="val 8000"/>
            </a:avLst>
          </a:prstGeom>
          <a:solidFill>
            <a:srgbClr val="8B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55480" y="6007608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OUTPUT  ·  COG + GPKG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51760" y="605332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────────────  6 automated stages  ────────────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Methodology — Terrain Modelling (Stages 1–3)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2194560" cy="5500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2044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520440" cy="41148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35608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Calibri"/>
              </a:defRPr>
            </a:pPr>
            <a:r>
              <a:t>1 · Inspect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202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Read LAS/LAZ headers (laspy)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Validate CRS, density, bounds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Auto-tile big files (200 m + 25 m buffer)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3520440" cy="41148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1435608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Calibri"/>
              </a:defRPr>
            </a:pPr>
            <a:r>
              <a:t>2 · 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9202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SMRF morphological filter (PDAL)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Random-Forest refinement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Output ASPRS class-2 ground LAS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52044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3520440" cy="41148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35608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Calibri"/>
              </a:defRPr>
            </a:pPr>
            <a:r>
              <a:t>3 · DTM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202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IDW interpolation (cKDTree, k=16)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0.5 m Cloud-Optimized GeoTIFF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8 terrain derivatives computed</a:t>
            </a:r>
          </a:p>
        </p:txBody>
      </p:sp>
      <p:pic>
        <p:nvPicPr>
          <p:cNvPr id="17" name="Picture 16" descr="fig_ter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794760"/>
            <a:ext cx="8503920" cy="248078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28800" y="6355080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7F8C8D"/>
                </a:solidFill>
                <a:latin typeface="Calibri"/>
              </a:defRPr>
            </a:pPr>
            <a:r>
              <a:t>Terrain derivatives from the DTM: slope · Topographic Wetness Index · hillshade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Methodology — Hydrology, AI &amp; Drainage (Stages 4–6)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2194560" cy="5500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204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20440" cy="41148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Calibri"/>
              </a:defRPr>
            </a:pPr>
            <a:r>
              <a:t>4 · Hydrology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65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Depression filling (pysheds)</a:t>
            </a:r>
          </a:p>
          <a:p>
            <a:pPr>
              <a:spcAft>
                <a:spcPts val="6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D8 flow direction + accumulation</a:t>
            </a:r>
          </a:p>
          <a:p>
            <a:pPr>
              <a:spcAft>
                <a:spcPts val="6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TWI = ln(α / tan β)</a:t>
            </a:r>
          </a:p>
          <a:p>
            <a:pPr>
              <a:spcAft>
                <a:spcPts val="6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Stream network extraction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5204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63040"/>
            <a:ext cx="3520440" cy="41148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1481328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Calibri"/>
              </a:defRPr>
            </a:pPr>
            <a:r>
              <a:t>5 · Waterlogging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965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10-feature terrain stack</a:t>
            </a:r>
          </a:p>
          <a:p>
            <a:pPr>
              <a:spcAft>
                <a:spcPts val="6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XGBoost risk surrogate</a:t>
            </a:r>
          </a:p>
          <a:p>
            <a:pPr>
              <a:spcAft>
                <a:spcPts val="6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Physically-grounded risk index</a:t>
            </a:r>
          </a:p>
          <a:p>
            <a:pPr>
              <a:spcAft>
                <a:spcPts val="6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5-fold CV + cross-village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5204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520440" cy="41148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81328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Calibri"/>
              </a:defRPr>
            </a:pPr>
            <a:r>
              <a:t>6 · Drainage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65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Minimum Spanning Tree routing</a:t>
            </a:r>
          </a:p>
          <a:p>
            <a:pPr>
              <a:spcAft>
                <a:spcPts val="6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Rational method: Q = C·i·A/360</a:t>
            </a:r>
          </a:p>
          <a:p>
            <a:pPr>
              <a:spcAft>
                <a:spcPts val="6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Manning's trapezoidal sizing</a:t>
            </a:r>
          </a:p>
          <a:p>
            <a:pPr>
              <a:spcAft>
                <a:spcPts val="6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Per-segment cost → GeoPackage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1064240" cy="2103120"/>
          </a:xfrm>
          <a:prstGeom prst="roundRect">
            <a:avLst>
              <a:gd name="adj" fmla="val 4000"/>
            </a:avLst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1596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2C3E50"/>
                </a:solidFill>
                <a:latin typeface="Calibri"/>
              </a:defRPr>
            </a:pPr>
            <a:r>
              <a:t>Drainage design parameters (10-year return period)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▸ Manning's n = 0.025 (earthen)  ·  side slope 1.5H:1V  ·  rainfall i = 50 mm/hr  ·  runoff C = 0.65</a:t>
            </a:r>
          </a:p>
          <a:p>
            <a:pPr>
              <a:spcAft>
                <a:spcPts val="7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▸ Velocity window 0.3–2.0 m/s (self-cleaning, non-erosive)  ·  cost rate depth-dependent per metre</a:t>
            </a:r>
          </a:p>
          <a:p>
            <a:pPr>
              <a:spcAft>
                <a:spcPts val="7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▸ Every channel sized to carry its catchment's design discharge — zero capacity exceedances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How We Validate — Honest, Defensible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2194560" cy="5500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7F8C8D"/>
                </a:solidFill>
                <a:latin typeface="Calibri"/>
              </a:defRPr>
            </a:pPr>
            <a:r>
              <a:t>No fabricated accuracy: every number comes from a withheld or independent check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572000"/>
                <a:gridCol w="45720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Validation method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is defensible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DTM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Leave-out cross-validation: interpolate withheld LiDAR ground returns and compare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True vertical error vs real measurements — ASPRS-style, not a self-comparison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Waterlogging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5-fold CV fidelity to a physically-derived risk index + cross-village transfer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Tests genuine generalisation across terrain, not memorised thresholds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Drainage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Hydraulic capacity check (Manning's) on every designed channel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Engineering constraint satisfaction, fully reproducible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572000"/>
            <a:ext cx="1106424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3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8172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D35400"/>
                </a:solidFill>
                <a:latin typeface="Calibri"/>
              </a:defRPr>
            </a:pPr>
            <a:r>
              <a:t>Transparent about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3D2B1F"/>
                </a:solidFill>
                <a:latin typeface="Calibri"/>
              </a:defRPr>
            </a:pPr>
            <a:r>
              <a:t>• No observed flood records exist for these villages, so waterlogging labels are physically-derived, not ground-truthed — we report this openly.</a:t>
            </a:r>
          </a:p>
          <a:p>
            <a:pPr>
              <a:spcAft>
                <a:spcPts val="600"/>
              </a:spcAft>
              <a:defRPr sz="1250">
                <a:solidFill>
                  <a:srgbClr val="3D2B1F"/>
                </a:solidFill>
                <a:latin typeface="Calibri"/>
              </a:defRPr>
            </a:pPr>
            <a:r>
              <a:t>• DTM has no external survey reference; we validate internally against the LiDAR returns themselves (the densest available truth).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Results — DTM Vertical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2194560" cy="5500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7F8C8D"/>
                </a:solidFill>
                <a:latin typeface="Calibri"/>
              </a:defRPr>
            </a:pPr>
            <a:r>
              <a:t>Leave-out cross-validation against withheld LiDAR ground returns</a:t>
            </a:r>
          </a:p>
        </p:txBody>
      </p:sp>
      <p:pic>
        <p:nvPicPr>
          <p:cNvPr id="6" name="Picture 5" descr="fig_dtm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680960" cy="39940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554480"/>
            <a:ext cx="32004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69164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2C3E5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14884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RMSE 0.10–0.25 m across villages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LE90 (ASPRS) as low as 0.13 m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Decimetre-level fit on dense terrain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Errors track relief: flatter abadi areas are most accurate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Same IDW method validated identically on every village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Results — Waterlogging Risk &amp; Cross-Village Transfer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2194560" cy="5500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7F8C8D"/>
                </a:solidFill>
                <a:latin typeface="Calibri"/>
              </a:defRPr>
            </a:pPr>
            <a:r>
              <a:t>The honest generalisation test: train on one village, predict another</a:t>
            </a:r>
          </a:p>
        </p:txBody>
      </p:sp>
      <p:pic>
        <p:nvPicPr>
          <p:cNvPr id="6" name="Picture 5" descr="fig_wl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4498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7F8C8D"/>
                </a:solidFill>
                <a:latin typeface="Calibri"/>
              </a:defRPr>
            </a:pPr>
            <a:r>
              <a:t>Strong off-diagonal AUC shows the model learns transferable terrain→risk structure, not village-specific thresholds. Next step: calibrate against observed flood events.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Per-Village Results — Drainage &amp; Hotspots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2194560" cy="5500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94960" cy="438912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51206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Devdi  ·  Gujarat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73936"/>
            <a:ext cx="5394960" cy="512064"/>
          </a:xfrm>
          <a:prstGeom prst="roundRect">
            <a:avLst>
              <a:gd name="adj" fmla="val 3000"/>
            </a:avLst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01368"/>
            <a:ext cx="51755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 i="0">
                <a:solidFill>
                  <a:srgbClr val="3D2B1F"/>
                </a:solidFill>
                <a:latin typeface="Calibri"/>
              </a:defRPr>
            </a:pPr>
            <a:r>
              <a:t>DTM RMSE 0.1762 m · LE90 0.2349 m · WL AUC 0.9993</a:t>
            </a:r>
            <a:br/>
            <a:r>
              <a:t>966 channels · 54.1 km · ₹434 L</a:t>
            </a:r>
          </a:p>
        </p:txBody>
      </p:sp>
      <p:pic>
        <p:nvPicPr>
          <p:cNvPr id="9" name="Picture 8" descr="fig_map_DEV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77440"/>
            <a:ext cx="5120640" cy="4389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09360" y="1280160"/>
            <a:ext cx="5394960" cy="438912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98448"/>
            <a:ext cx="51206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Khapreta  ·  Gujarat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73936"/>
            <a:ext cx="5394960" cy="512064"/>
          </a:xfrm>
          <a:prstGeom prst="roundRect">
            <a:avLst>
              <a:gd name="adj" fmla="val 3000"/>
            </a:avLst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801368"/>
            <a:ext cx="51755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 i="0">
                <a:solidFill>
                  <a:srgbClr val="3D2B1F"/>
                </a:solidFill>
                <a:latin typeface="Calibri"/>
              </a:defRPr>
            </a:pPr>
            <a:r>
              <a:t>DTM RMSE 0.1458 m · LE90 0.1914 m · WL AUC 0.9999</a:t>
            </a:r>
            <a:br/>
            <a:r>
              <a:t>575 channels · 27.8 km · ₹233 L</a:t>
            </a:r>
          </a:p>
        </p:txBody>
      </p:sp>
      <p:pic>
        <p:nvPicPr>
          <p:cNvPr id="14" name="Picture 13" descr="fig_map_KHAPR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37744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Per-Village Results — Drainage &amp; Hotspots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2194560" cy="5500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94960" cy="438912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51206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Dhal Hoshiarpur  ·  Punjab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73936"/>
            <a:ext cx="5394960" cy="512064"/>
          </a:xfrm>
          <a:prstGeom prst="roundRect">
            <a:avLst>
              <a:gd name="adj" fmla="val 3000"/>
            </a:avLst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01368"/>
            <a:ext cx="51755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 i="0">
                <a:solidFill>
                  <a:srgbClr val="3D2B1F"/>
                </a:solidFill>
                <a:latin typeface="Calibri"/>
              </a:defRPr>
            </a:pPr>
            <a:r>
              <a:t>DTM RMSE 0.0969 m · LE90 0.1289 m · WL AUC 0.9994</a:t>
            </a:r>
            <a:br/>
            <a:r>
              <a:t>297 channels · 9.8 km · ₹79 L</a:t>
            </a:r>
          </a:p>
        </p:txBody>
      </p:sp>
      <p:pic>
        <p:nvPicPr>
          <p:cNvPr id="9" name="Picture 8" descr="fig_map_DHAL_HOSHIARP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77440"/>
            <a:ext cx="5120640" cy="4389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09360" y="1280160"/>
            <a:ext cx="5394960" cy="438912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98448"/>
            <a:ext cx="51206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Chakhirasingh  ·  Punjab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73936"/>
            <a:ext cx="5394960" cy="512064"/>
          </a:xfrm>
          <a:prstGeom prst="roundRect">
            <a:avLst>
              <a:gd name="adj" fmla="val 3000"/>
            </a:avLst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801368"/>
            <a:ext cx="51755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 i="0">
                <a:solidFill>
                  <a:srgbClr val="3D2B1F"/>
                </a:solidFill>
                <a:latin typeface="Calibri"/>
              </a:defRPr>
            </a:pPr>
            <a:r>
              <a:t>DTM RMSE 0.2544 m · LE90 0.3851 m · WL AUC 0.9989</a:t>
            </a:r>
            <a:br/>
            <a:r>
              <a:t>1013 channels · 43.7 km · ₹351 L</a:t>
            </a:r>
          </a:p>
        </p:txBody>
      </p:sp>
      <p:pic>
        <p:nvPicPr>
          <p:cNvPr id="14" name="Picture 13" descr="fig_map_CHAKHIRASIN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37744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Results Scorecard — All Villages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2194560" cy="5500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30000" cy="26536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0" i="1">
                <a:solidFill>
                  <a:srgbClr val="7F8C8D"/>
                </a:solidFill>
                <a:latin typeface="Calibri"/>
              </a:defRPr>
            </a:pPr>
            <a:r>
              <a:t>One pipeline, one config — identical processing and validation applied to every village across two states.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Drainage Network Design — Worked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2194560" cy="5500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7F8C8D"/>
                </a:solidFill>
                <a:latin typeface="Calibri"/>
              </a:defRPr>
            </a:pPr>
            <a:r>
              <a:t>Devdi: MST-routed, hydraulically-sized, fully costed</a:t>
            </a:r>
          </a:p>
        </p:txBody>
      </p:sp>
      <p:pic>
        <p:nvPicPr>
          <p:cNvPr id="6" name="Picture 5" descr="fig_drain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949440" cy="597975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155448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6916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2C3E50"/>
                </a:solidFill>
                <a:latin typeface="Calibri"/>
              </a:defRPr>
            </a:pPr>
            <a:r>
              <a:t>Design summary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863840" y="2194560"/>
          <a:ext cx="3566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73736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8B7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B735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Total length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54.1 km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Total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₹434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Avg velocity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0.543 m/s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Capacity fails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63840" y="4754880"/>
            <a:ext cx="3566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3D2B1F"/>
                </a:solidFill>
                <a:latin typeface="Calibri"/>
              </a:defRPr>
            </a:pPr>
            <a:r>
              <a:t>Channels follow natural flow paths (minimum spanning tree), each sized by Manning's equation to carry its catchment's 10-yr design storm.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Scalability &amp; Production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2194560" cy="5500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1188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11880" cy="502920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0472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50" b="1" i="0">
                <a:solidFill>
                  <a:srgbClr val="FFFFFF"/>
                </a:solidFill>
                <a:latin typeface="Calibri"/>
              </a:defRPr>
            </a:pPr>
            <a:r>
              <a:t>Handles any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Auto-tiling with overlap buffer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Chunked streaming I/O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Tested up to 170 M+ points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Memory-safe on commodity hardware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61188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78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611880" cy="502920"/>
          </a:xfrm>
          <a:prstGeom prst="roundRect">
            <a:avLst>
              <a:gd name="adj" fmla="val 5000"/>
            </a:avLst>
          </a:prstGeom>
          <a:solidFill>
            <a:srgbClr val="178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490472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50" b="1" i="0">
                <a:solidFill>
                  <a:srgbClr val="FFFFFF"/>
                </a:solidFill>
                <a:latin typeface="Calibri"/>
              </a:defRPr>
            </a:pPr>
            <a:r>
              <a:t>Transfers across regions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488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Validated in Gujarat &amp; Punjab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Cross-village model transfer shown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One config, many villages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No per-site manual tuning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61188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05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611880" cy="502920"/>
          </a:xfrm>
          <a:prstGeom prst="roundRect">
            <a:avLst>
              <a:gd name="adj" fmla="val 5000"/>
            </a:avLst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90472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50" b="1" i="0">
                <a:solidFill>
                  <a:srgbClr val="FFFFFF"/>
                </a:solidFill>
                <a:latin typeface="Calibri"/>
              </a:defRPr>
            </a:pPr>
            <a:r>
              <a:t>Open &amp; integrable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488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Cloud-Optimized GeoTIFF rasters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GeoPackage vector layers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Loads directly in QGIS/ArcGIS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OGC-compliant for govt GIS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Limitations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2194560" cy="5500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7F8C8D"/>
                </a:solidFill>
                <a:latin typeface="Calibri"/>
              </a:defRPr>
            </a:pPr>
            <a:r>
              <a:t>What we would do with more data and time — stated plainly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406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3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D35400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Waterlogging labels are physically-derived, not yet validated against observed floods.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DTM lacks an independent DGPS survey reference; validated against the LiDAR returns.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Ground-refinement gains over SMRF are marginal on flat abadi terrain.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4 villages processed; pipeline is ready to run on the remaining SVAMITVA tiles.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4406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78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78582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Calibrate risk model on real flood-event / drain-complaint records (expected AUC ↑).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DGPS checkpoints for absolute DTM accuracy (target LE90 ≤ 0.15 m).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Roll the batch pipeline across all 10 villages and beyond.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Add rainfall-runoff hydrograph routing for peak-flow design.</a:t>
            </a:r>
          </a:p>
          <a:p>
            <a:pPr>
              <a:spcAft>
                <a:spcPts val="10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Web dashboard for planners to inspect and edit networks.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000" b="1" i="0">
                <a:solidFill>
                  <a:srgbClr val="2C3E5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2880360"/>
            <a:ext cx="2286000" cy="45000"/>
          </a:xfrm>
          <a:prstGeom prst="rect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 i="0">
                <a:solidFill>
                  <a:srgbClr val="8B7355"/>
                </a:solidFill>
                <a:latin typeface="Calibri"/>
              </a:defRPr>
            </a:pPr>
            <a:r>
              <a:t>DTM Drainage AI  —  MoPR Geospatial Intelligence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A0522D"/>
                </a:solidFill>
                <a:latin typeface="Calibri"/>
              </a:defRPr>
            </a:pPr>
            <a:r>
              <a:t>charansaiponnada  ·  IIT Tirupati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7F8C8D"/>
                </a:solidFill>
                <a:latin typeface="Calibri"/>
              </a:defRPr>
            </a:pPr>
            <a:r>
              <a:t>Automated DTM · Waterlogging Risk · Drainage Design from LiDAR point clouds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4663440"/>
            <a:ext cx="5943600" cy="128016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489204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Built end-to-end · Validated honestly · Ready to scale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